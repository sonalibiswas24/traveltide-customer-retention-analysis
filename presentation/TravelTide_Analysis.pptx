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3hnFz2hGBfPJ2HwctZNiyvp3t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Good [morning / afternoon], everyone. Thank you for making the time today.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My name is Sonali Biswas, and I am the Business Analyst on the TravelTide Analytics Project.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Over the next 12 minutes, I am going to walk you through what we built, what the data told us, and — most importantly — what we recommend doing next.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core question we set out to answer was: how do we keep TravelTide users coming back? And the answer required us to go from raw clickstream data all the way to a segmentation strategy with personalised perks.</a:t>
            </a:r>
            <a:endParaRPr/>
          </a:p>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We start with the data foundation — how we built the session and user tables that power everything else. Then we move into customer segmentation using a classic RFM approach. From there we look at which perks were recommended for which users, how we tested those perks with a controlled A/B experiment, and finally I will close with three concrete strategic recommendations for the next rollout.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Before we dive into data, I want to ground everyone in why this project exists.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business requirement was straightforward: TravelTide needed to move beyond knowing who its users are, and start understanding how they behave. Clicks, sessions, search depth, discount usage — all of that needed to be connected into a single view of each customer.</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goal was to take that behavioural data and assign every user in our target cohort to exactly one rewards perk — one that genuinely matches their travel habits. Not generic. Not guesswork. Data-driven and </a:t>
            </a:r>
            <a:r>
              <a:rPr lang="en-US"/>
              <a:t>much more centralised</a:t>
            </a:r>
            <a:r>
              <a:rPr lang="en-US" sz="1200">
                <a:latin typeface="Calibri"/>
                <a:ea typeface="Calibri"/>
                <a:cs typeface="Calibri"/>
                <a:sym typeface="Calibri"/>
              </a:rPr>
              <a: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Let's start with what we built. The data foundation.</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 What you are looking at is our Daily Active User count over the course of 2023. You can see we peaked in early Q1, and then we have had a steady, consistent decline ever since.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is not a blip. This is a structural disengagement trend.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good news is that we are catching it early enough to act. But the window is closing. Every month we do not intervene, we are losing users who are already familiar with the platform — and those are the hardest users to win back once they leave.</a:t>
            </a:r>
            <a:endParaRPr/>
          </a:p>
          <a:p>
            <a:pPr indent="0" lvl="0" marL="0" rtl="0" algn="l">
              <a:lnSpc>
                <a:spcPct val="100000"/>
              </a:lnSpc>
              <a:spcBef>
                <a:spcPts val="0"/>
              </a:spcBef>
              <a:spcAft>
                <a:spcPts val="0"/>
              </a:spcAft>
              <a:buSzPts val="1400"/>
              <a:buNone/>
            </a:pPr>
            <a:r>
              <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When users are highly engaged — meaning they clock 25 or more page interactions in a session — they convert at over 65%. That is a remarkable conversion rate.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What this tells us is that the checkout experience is not broken. Users who engage deeply do buy. The problem is that most users never reach that level of engagement.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So our opportunity is not to fix the funnel — it is to pull more users into that high-engagement zone earlier in their journey. Through smarter personalisation, better cross-sell triggers, and the right perk at the right moment.</a:t>
            </a:r>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a:t>
            </a:r>
            <a:endParaRPr/>
          </a:p>
        </p:txBody>
      </p:sp>
      <p:sp>
        <p:nvSpPr>
          <p:cNvPr id="115" name="Google Shape;1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[~40 seconds | Flight–Hotel Bundle Gap]</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slide shows our single largest revenue leakage point.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75% stat] Three quarters of all flight-booking sessions have no hotel attached. These users landed on our platform, found a flight, and left without seeing the hotel opportunity.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25%] Only 25% of sessions result in a bundle.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Now here is the business implication: if we could convert even 10% of those unbundled flight bookers into hotel bundlers, the incremental revenue would be substantial. That is not a product problem — it is a timing and personalisation problem. We need to surface the hotel offer during the session when the user is already in a booking mindset.</a:t>
            </a:r>
            <a:endParaRPr/>
          </a:p>
        </p:txBody>
      </p:sp>
      <p:sp>
        <p:nvSpPr>
          <p:cNvPr id="133" name="Google Shape;1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chart looks at search depth — how many searches a user conducts — and correlates it with whether they book or cancel.</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key insight here is that both bookings and cancellations come from deeply engaged, high-search sessions. These are not impulsive users — they are researchers.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when a user is deep in a search journey, that is our highest-value intervention window. That is exactly when a personalised hotel bundle or a discount overlay will have the most impact — because the user's intent is already high.</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peak window] Sessions, bookings, and revenue all converge in a single peak window: 5 PM to 9 PM.</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If our marketing team is sending push notifications, running retargeting campaigns, or firing any kind of re-engagement message at 10 AM — we are wasting that spend. The data is clear: users are active, engaged, and ready to book in the evening.</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is a quick win. Simply shifting campaign timing to this window could improve conversion without any additional budget.</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This spike is January 2023. In a single month, we onboarded approximately 3,500 new users — sandwiched between very low activity in late 2021 and mid-2022.</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was not organic growth. It was driven by a Winter Sale Campaign. And this cohort is now three years old on the platform.</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Why does that matter? Because this group represents our most valuable and most at-risk segment simultaneously. They know the platform, they came in with purchase intent — and if they are drifting, now is the time to win them back before they are gone for good.</a:t>
            </a:r>
            <a:endParaRPr/>
          </a:p>
        </p:txBody>
      </p:sp>
      <p:sp>
        <p:nvSpPr>
          <p:cNvPr id="206" name="Google Shape;2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When we zoom into that January 2023 spike, we can see the mechanics clearly.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three insight cards] The Winter Sale Campaign launched on January 10th. Daily signups went from roughly 20 per day to over 180 at peak. That is nearly a 10x multiplier from a single campaign.</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cohort is our anchor audience for everything we are about to recommend. They are a known quantity — we know how they came in, we know their tenure, and we know their behavioural patterns. They are the right group to test retention strategies on.</a:t>
            </a:r>
            <a:endParaRPr/>
          </a:p>
        </p:txBody>
      </p:sp>
      <p:sp>
        <p:nvSpPr>
          <p:cNvPr id="223" name="Google Shape;2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67% stat] Two thirds of our users do not have children. Our platform skews strongly toward independent travellers and couples.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is not a problem — it is a positioning insight. It tells us where our product already resonates and where we should double down. It also tells us that family-oriented perks — like hotel add-ons for kids — may not move the needle for the majority of our base.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Conversely, for the 33% who do have children, the family perk is likely a high-relevance offer.</a:t>
            </a:r>
            <a:endParaRPr/>
          </a:p>
        </p:txBody>
      </p:sp>
      <p:sp>
        <p:nvSpPr>
          <p:cNvPr id="244" name="Google Shape;24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[~25 seconds | Top Home Airports]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Geography matters for campaign targeting.</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LGA, JFK, LAX] Our top three home airports are LaGuardia, JFK, and LAX — all major US hubs. This tells us where to concentrate geo-targeted digital advertising to get the highest Return on Ad Spend.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Rather than a broad national campaign, we can hyper-localise to New York and Los Angeles and reach the bulk of our highest-value users at a fraction of the cost.</a:t>
            </a:r>
            <a:endParaRPr/>
          </a:p>
        </p:txBody>
      </p:sp>
      <p:sp>
        <p:nvSpPr>
          <p:cNvPr id="266" name="Google Shape;2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[~25 seconds | Age Distribution]</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Our platform is well-indexed against working-age adults — the 25-to-55 range.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demographic gap box] But we are significantly underleveraged at both ends. Retirees aged 60 and over have high disposable income and flexible travel schedules — a natural fit for a travel platform. And Gen Z travellers aged 18 to 24 are the next decade of travel spend.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If we do not build relevance with these groups now, a competitor will.</a:t>
            </a:r>
            <a:endParaRPr/>
          </a:p>
        </p:txBody>
      </p:sp>
      <p:sp>
        <p:nvSpPr>
          <p:cNvPr id="290" name="Google Shape;29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 In the United States — our primary market — 85 to 90 percent of our users identify as female.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is a strong signal that our current product design, marketing voice, and campaign creative are resonating with women. That is a strength. But it also means we have an almost entirely untapped male audience.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Business travel, sports travel, adventure tourism — these are high-spend categories that skew male. There is a meaningful diversification opportunity here.</a:t>
            </a:r>
            <a:endParaRPr/>
          </a:p>
        </p:txBody>
      </p:sp>
      <p:sp>
        <p:nvSpPr>
          <p:cNvPr id="309" name="Google Shape;30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We used a classic RFM framework — three dimensions.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R] Recency measures how long a user has been on the platform, using days since sign-up as a proxy for platform tenure.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F] Frequency counts the total number of sessions. This tells us how actively a user engages.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M] Monetary combines average flight fare and average hotel spend to estimate financial value.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Each user receives a score on all three dimensions, and those scores are summed and thresholded to place users into one of three segments.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treemap] And this treemap on the right shows the result. The vast majority of our cohort — over 5,400 users — fall into the Engaged segment. A small group of 9 are Frequent, and around 550 are in the Other category.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distribution makes intuitive sense: our January 2023 cohort is a relatively homogeneous group in terms of tenure, which compresses the RFM spread.</a:t>
            </a:r>
            <a:endParaRPr/>
          </a:p>
        </p:txBody>
      </p:sp>
      <p:sp>
        <p:nvSpPr>
          <p:cNvPr id="337" name="Google Shape;33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[~40 seconds | Perk Recommendations]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Based on the segmentation, we mapped each user type to the perk most likely to resonate with their behaviour.</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[Walk through each row briefly]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New users get an onboarding discount — lower the first booking barrier and get them transacting quickly.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Engaged users get hotel upgrade vouchers — they are already booking, so the goal is to increase the value of each booking.</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Frequent users get priority boarding and early check-in — these are recognition rewards that reinforce their loyalty.</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At-risk or Other users get cashback on their next booking — an immediate financial incentive to re-activate.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logic is simple: match the incentive to where the user is in their journey.</a:t>
            </a:r>
            <a:endParaRPr/>
          </a:p>
        </p:txBody>
      </p:sp>
      <p:sp>
        <p:nvSpPr>
          <p:cNvPr id="371" name="Google Shape;37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[~45 seconds | A/B Testing — the honest results slide, own it]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Now I want to be transparent with you about what the data actually showed.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We ran a controlled experiment. Control group received no perk. Treatment group received their segment-matched perk. We tracked 90-day retention as our primary KPI.</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chart] The result was neutral. Control and treatment retention rates were nearly identical across all four perk types.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I want to be clear about what that means and what it does not mean. It does not mean the segmentation was wrong. It means the perks themselves — the specific incentives we tested — were not compelling enough to change behaviour.</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segmentation framework is sound. The incentive design is the variable we need to optimise next. And we now have a clean baseline to improve from.</a:t>
            </a:r>
            <a:endParaRPr/>
          </a:p>
        </p:txBody>
      </p:sp>
      <p:sp>
        <p:nvSpPr>
          <p:cNvPr id="399" name="Google Shape;39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[~35 seconds | Monitoring Dashboard]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This slide shows how we monitored the results over time.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three charts] We tracked monthly retention across three views: by cohort overall, by perk type, and as a monthly trend.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the interpretation box] If the perks had worked, we would expect the treatment cohort's retention line to sit consistently above the control line over three to six months. What we see instead is that the lines are tightly interwoven — which confirms the neutral A/B result.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monitoring infrastructure is in place. When we redesign the perks — which I will recommend in a moment — we have the measurement framework ready to detect a real signal.</a:t>
            </a:r>
            <a:endParaRPr/>
          </a:p>
        </p:txBody>
      </p:sp>
      <p:sp>
        <p:nvSpPr>
          <p:cNvPr id="417" name="Google Shape;41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[~35 seconds | Key Takeaways — let each card land, do not rush]</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Before I go to recommendations, let me give you the five numbers that summarise everything we found.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each card as you speak]</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65% conversion for users with 25 or more clicks — the funnel works when users are engaged.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75% of flight sessions have no hotel attached — that is our biggest revenue gap.</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17 to 21 hundred hours is the peak engagement window — all campaigns should fire here.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RFM segmentation is validated — the method is right, the perks need redesigning.</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And 3,500 users from January 2023 are our anchor cohort — they need attention now.</a:t>
            </a:r>
            <a:endParaRPr/>
          </a:p>
        </p:txBody>
      </p:sp>
      <p:sp>
        <p:nvSpPr>
          <p:cNvPr id="439" name="Google Shape;43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[~50 seconds | Strategic Recommendations — the most important slide]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So where do we go from here? Three recommendations.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01] First — target the low-ceiling segments. The Family segment and budget-conscious travellers have the lowest baseline retention, which means they have the most room for improvement. These are the segments where a well-designed perk will show the clearest, most measurable uplift.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02] Second — redesign the perk value proposition. Our current perks — small discounts, upgrade vouchers — did not move the needle. We need to test higher-impact incentives: instant cashback on the next booking, a free hotel night, or priority boarding. Before we run another A/B test, I would recommend short qualitative interviews with 10 to 15 users from each segment to understand what would actually change their behaviour.</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[Point to 03] Third — fix the measurement window. Our current A/B test measured retention from historical sign-up dates, which in some cases go back three to five years. That baseline dilutes the perk signal entirely. The next test must measure from Day Zero of perk delivery — the day the user receives the incentive — so we can isolate its direct effect.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These three changes together will give us a clean, credible test in the next round.</a:t>
            </a:r>
            <a:endParaRPr/>
          </a:p>
        </p:txBody>
      </p:sp>
      <p:sp>
        <p:nvSpPr>
          <p:cNvPr id="473" name="Google Shape;47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latin typeface="Calibri"/>
                <a:ea typeface="Calibri"/>
                <a:cs typeface="Calibri"/>
                <a:sym typeface="Calibri"/>
              </a:rPr>
              <a:t>[~20 seconds | Closing — be warm, invite questions]</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That is the full picture.</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We started with raw behavioural data, built a segmentation model, tested a perk strategy, and came back with honest results and a clear path forward.</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The infrastructure is built. The framework is validated. The next step is redesigning the incentives and running a cleaner experiment.</a:t>
            </a:r>
            <a:endParaRPr/>
          </a:p>
          <a:p>
            <a:pPr indent="0" lvl="0" marL="0" rtl="0" algn="l">
              <a:lnSpc>
                <a:spcPct val="100000"/>
              </a:lnSpc>
              <a:spcBef>
                <a:spcPts val="0"/>
              </a:spcBef>
              <a:spcAft>
                <a:spcPts val="0"/>
              </a:spcAft>
              <a:buSzPts val="1400"/>
              <a:buNone/>
            </a:pPr>
            <a:r>
              <a:t/>
            </a:r>
            <a:endParaRPr sz="1200">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latin typeface="Calibri"/>
                <a:ea typeface="Calibri"/>
                <a:cs typeface="Calibri"/>
                <a:sym typeface="Calibri"/>
              </a:rPr>
              <a:t>I am happy to go deeper on any of these areas — the methodology, the data, or the recommendations. Thank you.</a:t>
            </a:r>
            <a:endParaRPr/>
          </a:p>
        </p:txBody>
      </p:sp>
      <p:sp>
        <p:nvSpPr>
          <p:cNvPr id="500" name="Google Shape;50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0" y="-539500"/>
            <a:ext cx="3474600" cy="5565000"/>
          </a:xfrm>
          <a:prstGeom prst="rect">
            <a:avLst/>
          </a:prstGeom>
          <a:solidFill>
            <a:srgbClr val="122355"/>
          </a:solidFill>
          <a:ln cap="flat" cmpd="sng" w="12700">
            <a:solidFill>
              <a:srgbClr val="1223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3474720" y="73152"/>
            <a:ext cx="45720" cy="507034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880670" y="2510025"/>
            <a:ext cx="2560200" cy="2560200"/>
          </a:xfrm>
          <a:prstGeom prst="ellipse">
            <a:avLst/>
          </a:prstGeom>
          <a:solidFill>
            <a:srgbClr val="00C9A7">
              <a:alpha val="12156"/>
            </a:srgbClr>
          </a:solidFill>
          <a:ln cap="flat" cmpd="sng" w="12700">
            <a:solidFill>
              <a:srgbClr val="00C9A7">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10" y="1730945"/>
            <a:ext cx="1828800" cy="1828800"/>
          </a:xfrm>
          <a:prstGeom prst="ellipse">
            <a:avLst/>
          </a:prstGeom>
          <a:solidFill>
            <a:srgbClr val="00C9A7">
              <a:alpha val="7843"/>
            </a:srgbClr>
          </a:solidFill>
          <a:ln cap="flat" cmpd="sng" w="12700">
            <a:solidFill>
              <a:srgbClr val="00C9A7">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274320" y="457200"/>
            <a:ext cx="29260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9BB"/>
              </a:buClr>
              <a:buSzPts val="1100"/>
              <a:buFont typeface="Calibri"/>
              <a:buNone/>
            </a:pPr>
            <a:r>
              <a:rPr b="0" i="0" lang="en-US" sz="1100" u="none" cap="none" strike="noStrike">
                <a:solidFill>
                  <a:srgbClr val="8899BB"/>
                </a:solidFill>
                <a:latin typeface="Calibri"/>
                <a:ea typeface="Calibri"/>
                <a:cs typeface="Calibri"/>
                <a:sym typeface="Calibri"/>
              </a:rPr>
              <a:t>MSIT Program</a:t>
            </a:r>
            <a:endParaRPr b="0" i="0" sz="1100" u="none" cap="none" strike="noStrike">
              <a:solidFill>
                <a:schemeClr val="dk1"/>
              </a:solidFill>
              <a:latin typeface="Calibri"/>
              <a:ea typeface="Calibri"/>
              <a:cs typeface="Calibri"/>
              <a:sym typeface="Calibri"/>
            </a:endParaRPr>
          </a:p>
        </p:txBody>
      </p:sp>
      <p:sp>
        <p:nvSpPr>
          <p:cNvPr id="22" name="Google Shape;22;p1"/>
          <p:cNvSpPr/>
          <p:nvPr/>
        </p:nvSpPr>
        <p:spPr>
          <a:xfrm>
            <a:off x="274320" y="914400"/>
            <a:ext cx="29260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C9A7"/>
              </a:buClr>
              <a:buSzPts val="1800"/>
              <a:buFont typeface="Calibri"/>
              <a:buNone/>
            </a:pPr>
            <a:r>
              <a:rPr b="1" i="0" lang="en-US" sz="1800" u="none" cap="none" strike="noStrike">
                <a:solidFill>
                  <a:srgbClr val="00C9A7"/>
                </a:solidFill>
                <a:latin typeface="Calibri"/>
                <a:ea typeface="Calibri"/>
                <a:cs typeface="Calibri"/>
                <a:sym typeface="Calibri"/>
              </a:rPr>
              <a:t>Sonali Biswas</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274320" y="1325880"/>
            <a:ext cx="29260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Business Analyst</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274320" y="4389120"/>
            <a:ext cx="29260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9BB"/>
              </a:buClr>
              <a:buSzPts val="1100"/>
              <a:buFont typeface="Calibri"/>
              <a:buNone/>
            </a:pPr>
            <a:r>
              <a:rPr b="0" i="0" lang="en-US" sz="1100" u="none" cap="none" strike="noStrike">
                <a:solidFill>
                  <a:srgbClr val="8899BB"/>
                </a:solidFill>
                <a:latin typeface="Calibri"/>
                <a:ea typeface="Calibri"/>
                <a:cs typeface="Calibri"/>
                <a:sym typeface="Calibri"/>
              </a:rPr>
              <a:t>June 2026</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274320" y="4663440"/>
            <a:ext cx="2926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9BB"/>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6" name="Google Shape;26;p1"/>
          <p:cNvSpPr/>
          <p:nvPr/>
        </p:nvSpPr>
        <p:spPr>
          <a:xfrm>
            <a:off x="3749040" y="914410"/>
            <a:ext cx="52122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C9A7"/>
              </a:buClr>
              <a:buSzPts val="1400"/>
              <a:buFont typeface="Calibri"/>
              <a:buNone/>
            </a:pPr>
            <a:r>
              <a:rPr b="1" i="0" lang="en-US" sz="3100" u="none" cap="none" strike="noStrike">
                <a:solidFill>
                  <a:srgbClr val="00C9A7"/>
                </a:solidFill>
                <a:latin typeface="Calibri"/>
                <a:ea typeface="Calibri"/>
                <a:cs typeface="Calibri"/>
                <a:sym typeface="Calibri"/>
              </a:rPr>
              <a:t>TravelTide</a:t>
            </a:r>
            <a:endParaRPr b="0" i="0" sz="3100" u="none" cap="none" strike="noStrike">
              <a:solidFill>
                <a:schemeClr val="dk1"/>
              </a:solidFill>
              <a:latin typeface="Calibri"/>
              <a:ea typeface="Calibri"/>
              <a:cs typeface="Calibri"/>
              <a:sym typeface="Calibri"/>
            </a:endParaRPr>
          </a:p>
        </p:txBody>
      </p:sp>
      <p:sp>
        <p:nvSpPr>
          <p:cNvPr id="27" name="Google Shape;27;p1"/>
          <p:cNvSpPr/>
          <p:nvPr/>
        </p:nvSpPr>
        <p:spPr>
          <a:xfrm>
            <a:off x="3749040" y="1325880"/>
            <a:ext cx="52122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4800"/>
              <a:buFont typeface="Calibri"/>
              <a:buNone/>
            </a:pPr>
            <a:r>
              <a:rPr b="1" i="0" lang="en-US" sz="4400" u="none" cap="none" strike="noStrike">
                <a:solidFill>
                  <a:srgbClr val="FFFFFF"/>
                </a:solidFill>
                <a:latin typeface="Calibri"/>
                <a:ea typeface="Calibri"/>
                <a:cs typeface="Calibri"/>
                <a:sym typeface="Calibri"/>
              </a:rPr>
              <a:t>Analytics</a:t>
            </a:r>
            <a:endParaRPr b="0" i="0" sz="4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800"/>
              <a:buFont typeface="Calibri"/>
              <a:buNone/>
            </a:pPr>
            <a:r>
              <a:rPr b="1" i="0" lang="en-US" sz="4400" u="none" cap="none" strike="noStrike">
                <a:solidFill>
                  <a:srgbClr val="FFFFFF"/>
                </a:solidFill>
                <a:latin typeface="Calibri"/>
                <a:ea typeface="Calibri"/>
                <a:cs typeface="Calibri"/>
                <a:sym typeface="Calibri"/>
              </a:rPr>
              <a:t>Project</a:t>
            </a:r>
            <a:endParaRPr b="0" i="0" sz="4400" u="none" cap="none" strike="noStrike">
              <a:solidFill>
                <a:schemeClr val="dk1"/>
              </a:solidFill>
              <a:latin typeface="Calibri"/>
              <a:ea typeface="Calibri"/>
              <a:cs typeface="Calibri"/>
              <a:sym typeface="Calibri"/>
            </a:endParaRPr>
          </a:p>
        </p:txBody>
      </p:sp>
      <p:sp>
        <p:nvSpPr>
          <p:cNvPr id="28" name="Google Shape;28;p1"/>
          <p:cNvSpPr/>
          <p:nvPr/>
        </p:nvSpPr>
        <p:spPr>
          <a:xfrm>
            <a:off x="3749040" y="2834640"/>
            <a:ext cx="5029200" cy="36576"/>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3707215" y="2736843"/>
            <a:ext cx="52122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8C6E0"/>
              </a:buClr>
              <a:buSzPts val="1700"/>
              <a:buFont typeface="Calibri"/>
              <a:buNone/>
            </a:pPr>
            <a:r>
              <a:rPr b="0" i="0" lang="en-US" sz="1700" u="none" cap="none" strike="noStrike">
                <a:solidFill>
                  <a:srgbClr val="FF0000"/>
                </a:solidFill>
                <a:latin typeface="Calibri"/>
                <a:ea typeface="Calibri"/>
                <a:cs typeface="Calibri"/>
                <a:sym typeface="Calibri"/>
              </a:rPr>
              <a:t>Customer Behavioral Segmentation &amp; Retention Strategy</a:t>
            </a:r>
            <a:endParaRPr b="0" i="0" sz="1700" u="none" cap="none" strike="noStrike">
              <a:solidFill>
                <a:srgbClr val="FF0000"/>
              </a:solidFill>
              <a:latin typeface="Calibri"/>
              <a:ea typeface="Calibri"/>
              <a:cs typeface="Calibri"/>
              <a:sym typeface="Calibri"/>
            </a:endParaRPr>
          </a:p>
        </p:txBody>
      </p:sp>
      <p:sp>
        <p:nvSpPr>
          <p:cNvPr id="30" name="Google Shape;30;p1"/>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35" name="Shape 35"/>
        <p:cNvGrpSpPr/>
        <p:nvPr/>
      </p:nvGrpSpPr>
      <p:grpSpPr>
        <a:xfrm>
          <a:off x="0" y="0"/>
          <a:ext cx="0" cy="0"/>
          <a:chOff x="0" y="0"/>
          <a:chExt cx="0" cy="0"/>
        </a:xfrm>
      </p:grpSpPr>
      <p:sp>
        <p:nvSpPr>
          <p:cNvPr id="36" name="Google Shape;36;p2"/>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411480" y="182880"/>
            <a:ext cx="822960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Agenda</a:t>
            </a:r>
            <a:endParaRPr b="0" i="0" sz="2800" u="none" cap="none" strike="noStrike">
              <a:solidFill>
                <a:schemeClr val="dk1"/>
              </a:solidFill>
              <a:latin typeface="Calibri"/>
              <a:ea typeface="Calibri"/>
              <a:cs typeface="Calibri"/>
              <a:sym typeface="Calibri"/>
            </a:endParaRPr>
          </a:p>
        </p:txBody>
      </p:sp>
      <p:sp>
        <p:nvSpPr>
          <p:cNvPr id="39" name="Google Shape;39;p2"/>
          <p:cNvSpPr/>
          <p:nvPr/>
        </p:nvSpPr>
        <p:spPr>
          <a:xfrm>
            <a:off x="411480" y="685800"/>
            <a:ext cx="1371600" cy="36576"/>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411480" y="868680"/>
            <a:ext cx="2651760" cy="16459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411480" y="868680"/>
            <a:ext cx="2651760" cy="5486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548640" y="1033272"/>
            <a:ext cx="640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2600"/>
              <a:buFont typeface="Calibri"/>
              <a:buNone/>
            </a:pPr>
            <a:r>
              <a:rPr b="1" i="0" lang="en-US" sz="2600" u="none" cap="none" strike="noStrike">
                <a:solidFill>
                  <a:srgbClr val="00C9A7"/>
                </a:solidFill>
                <a:latin typeface="Calibri"/>
                <a:ea typeface="Calibri"/>
                <a:cs typeface="Calibri"/>
                <a:sym typeface="Calibri"/>
              </a:rPr>
              <a:t>01</a:t>
            </a:r>
            <a:endParaRPr b="0" i="0" sz="2600" u="none" cap="none" strike="noStrike">
              <a:solidFill>
                <a:schemeClr val="dk1"/>
              </a:solidFill>
              <a:latin typeface="Calibri"/>
              <a:ea typeface="Calibri"/>
              <a:cs typeface="Calibri"/>
              <a:sym typeface="Calibri"/>
            </a:endParaRPr>
          </a:p>
        </p:txBody>
      </p:sp>
      <p:sp>
        <p:nvSpPr>
          <p:cNvPr id="43" name="Google Shape;43;p2"/>
          <p:cNvSpPr/>
          <p:nvPr/>
        </p:nvSpPr>
        <p:spPr>
          <a:xfrm>
            <a:off x="548640" y="1463040"/>
            <a:ext cx="23774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Data Foundation</a:t>
            </a:r>
            <a:endParaRPr b="0" i="0" sz="1300" u="none" cap="none" strike="noStrike">
              <a:solidFill>
                <a:schemeClr val="dk1"/>
              </a:solidFill>
              <a:latin typeface="Calibri"/>
              <a:ea typeface="Calibri"/>
              <a:cs typeface="Calibri"/>
              <a:sym typeface="Calibri"/>
            </a:endParaRPr>
          </a:p>
        </p:txBody>
      </p:sp>
      <p:sp>
        <p:nvSpPr>
          <p:cNvPr id="44" name="Google Shape;44;p2"/>
          <p:cNvSpPr/>
          <p:nvPr/>
        </p:nvSpPr>
        <p:spPr>
          <a:xfrm>
            <a:off x="548640" y="1856232"/>
            <a:ext cx="2377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Raw to Session &amp; User Aggregated Tables + EDA</a:t>
            </a:r>
            <a:endParaRPr b="0" i="0" sz="1000" u="none" cap="none" strike="noStrike">
              <a:solidFill>
                <a:schemeClr val="dk1"/>
              </a:solidFill>
              <a:latin typeface="Calibri"/>
              <a:ea typeface="Calibri"/>
              <a:cs typeface="Calibri"/>
              <a:sym typeface="Calibri"/>
            </a:endParaRPr>
          </a:p>
        </p:txBody>
      </p:sp>
      <p:sp>
        <p:nvSpPr>
          <p:cNvPr id="45" name="Google Shape;45;p2"/>
          <p:cNvSpPr/>
          <p:nvPr/>
        </p:nvSpPr>
        <p:spPr>
          <a:xfrm>
            <a:off x="3291840" y="868680"/>
            <a:ext cx="2651760" cy="16459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3291840" y="868680"/>
            <a:ext cx="2651760" cy="54864"/>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3429000" y="1033272"/>
            <a:ext cx="640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2600"/>
              <a:buFont typeface="Calibri"/>
              <a:buNone/>
            </a:pPr>
            <a:r>
              <a:rPr b="1" i="0" lang="en-US" sz="2600" u="none" cap="none" strike="noStrike">
                <a:solidFill>
                  <a:srgbClr val="FFD166"/>
                </a:solidFill>
                <a:latin typeface="Calibri"/>
                <a:ea typeface="Calibri"/>
                <a:cs typeface="Calibri"/>
                <a:sym typeface="Calibri"/>
              </a:rPr>
              <a:t>02</a:t>
            </a:r>
            <a:endParaRPr b="0" i="0" sz="2600" u="none" cap="none" strike="noStrike">
              <a:solidFill>
                <a:schemeClr val="dk1"/>
              </a:solidFill>
              <a:latin typeface="Calibri"/>
              <a:ea typeface="Calibri"/>
              <a:cs typeface="Calibri"/>
              <a:sym typeface="Calibri"/>
            </a:endParaRPr>
          </a:p>
        </p:txBody>
      </p:sp>
      <p:sp>
        <p:nvSpPr>
          <p:cNvPr id="48" name="Google Shape;48;p2"/>
          <p:cNvSpPr/>
          <p:nvPr/>
        </p:nvSpPr>
        <p:spPr>
          <a:xfrm>
            <a:off x="3429000" y="1463040"/>
            <a:ext cx="23774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Customer Segmentation</a:t>
            </a:r>
            <a:endParaRPr b="0" i="0" sz="1300" u="none" cap="none" strike="noStrike">
              <a:solidFill>
                <a:schemeClr val="dk1"/>
              </a:solidFill>
              <a:latin typeface="Calibri"/>
              <a:ea typeface="Calibri"/>
              <a:cs typeface="Calibri"/>
              <a:sym typeface="Calibri"/>
            </a:endParaRPr>
          </a:p>
        </p:txBody>
      </p:sp>
      <p:sp>
        <p:nvSpPr>
          <p:cNvPr id="49" name="Google Shape;49;p2"/>
          <p:cNvSpPr/>
          <p:nvPr/>
        </p:nvSpPr>
        <p:spPr>
          <a:xfrm>
            <a:off x="3429000" y="1856232"/>
            <a:ext cx="2377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RFM Scoring &amp; Behavioral Grouping</a:t>
            </a:r>
            <a:endParaRPr b="0" i="0" sz="1000" u="none" cap="none" strike="noStrike">
              <a:solidFill>
                <a:schemeClr val="dk1"/>
              </a:solidFill>
              <a:latin typeface="Calibri"/>
              <a:ea typeface="Calibri"/>
              <a:cs typeface="Calibri"/>
              <a:sym typeface="Calibri"/>
            </a:endParaRPr>
          </a:p>
        </p:txBody>
      </p:sp>
      <p:sp>
        <p:nvSpPr>
          <p:cNvPr id="50" name="Google Shape;50;p2"/>
          <p:cNvSpPr/>
          <p:nvPr/>
        </p:nvSpPr>
        <p:spPr>
          <a:xfrm>
            <a:off x="6172200" y="868680"/>
            <a:ext cx="2651760" cy="16459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6172200" y="868680"/>
            <a:ext cx="2651760" cy="54864"/>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6309360" y="1033272"/>
            <a:ext cx="640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2600"/>
              <a:buFont typeface="Calibri"/>
              <a:buNone/>
            </a:pPr>
            <a:r>
              <a:rPr b="1" i="0" lang="en-US" sz="2600" u="none" cap="none" strike="noStrike">
                <a:solidFill>
                  <a:srgbClr val="FF6B6B"/>
                </a:solidFill>
                <a:latin typeface="Calibri"/>
                <a:ea typeface="Calibri"/>
                <a:cs typeface="Calibri"/>
                <a:sym typeface="Calibri"/>
              </a:rPr>
              <a:t>03</a:t>
            </a:r>
            <a:endParaRPr b="0" i="0" sz="2600" u="none" cap="none" strike="noStrike">
              <a:solidFill>
                <a:schemeClr val="dk1"/>
              </a:solidFill>
              <a:latin typeface="Calibri"/>
              <a:ea typeface="Calibri"/>
              <a:cs typeface="Calibri"/>
              <a:sym typeface="Calibri"/>
            </a:endParaRPr>
          </a:p>
        </p:txBody>
      </p:sp>
      <p:sp>
        <p:nvSpPr>
          <p:cNvPr id="53" name="Google Shape;53;p2"/>
          <p:cNvSpPr/>
          <p:nvPr/>
        </p:nvSpPr>
        <p:spPr>
          <a:xfrm>
            <a:off x="6309360" y="1463040"/>
            <a:ext cx="23774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Perk Recommendations</a:t>
            </a:r>
            <a:endParaRPr b="0" i="0" sz="1300" u="none" cap="none" strike="noStrike">
              <a:solidFill>
                <a:schemeClr val="dk1"/>
              </a:solidFill>
              <a:latin typeface="Calibri"/>
              <a:ea typeface="Calibri"/>
              <a:cs typeface="Calibri"/>
              <a:sym typeface="Calibri"/>
            </a:endParaRPr>
          </a:p>
        </p:txBody>
      </p:sp>
      <p:sp>
        <p:nvSpPr>
          <p:cNvPr id="54" name="Google Shape;54;p2"/>
          <p:cNvSpPr/>
          <p:nvPr/>
        </p:nvSpPr>
        <p:spPr>
          <a:xfrm>
            <a:off x="6309360" y="1856232"/>
            <a:ext cx="2377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Matching the Right Perk to the Right User</a:t>
            </a:r>
            <a:endParaRPr b="0" i="0" sz="1000" u="none" cap="none" strike="noStrike">
              <a:solidFill>
                <a:schemeClr val="dk1"/>
              </a:solidFill>
              <a:latin typeface="Calibri"/>
              <a:ea typeface="Calibri"/>
              <a:cs typeface="Calibri"/>
              <a:sym typeface="Calibri"/>
            </a:endParaRPr>
          </a:p>
        </p:txBody>
      </p:sp>
      <p:sp>
        <p:nvSpPr>
          <p:cNvPr id="55" name="Google Shape;55;p2"/>
          <p:cNvSpPr/>
          <p:nvPr/>
        </p:nvSpPr>
        <p:spPr>
          <a:xfrm>
            <a:off x="1691640" y="2834640"/>
            <a:ext cx="2651760" cy="16459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1691640" y="2834640"/>
            <a:ext cx="2651760" cy="5486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1828800" y="2999232"/>
            <a:ext cx="640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2600"/>
              <a:buFont typeface="Calibri"/>
              <a:buNone/>
            </a:pPr>
            <a:r>
              <a:rPr b="1" i="0" lang="en-US" sz="2600" u="none" cap="none" strike="noStrike">
                <a:solidFill>
                  <a:srgbClr val="00C9A7"/>
                </a:solidFill>
                <a:latin typeface="Calibri"/>
                <a:ea typeface="Calibri"/>
                <a:cs typeface="Calibri"/>
                <a:sym typeface="Calibri"/>
              </a:rPr>
              <a:t>04</a:t>
            </a:r>
            <a:endParaRPr b="0" i="0" sz="2600" u="none" cap="none" strike="noStrike">
              <a:solidFill>
                <a:schemeClr val="dk1"/>
              </a:solidFill>
              <a:latin typeface="Calibri"/>
              <a:ea typeface="Calibri"/>
              <a:cs typeface="Calibri"/>
              <a:sym typeface="Calibri"/>
            </a:endParaRPr>
          </a:p>
        </p:txBody>
      </p:sp>
      <p:sp>
        <p:nvSpPr>
          <p:cNvPr id="58" name="Google Shape;58;p2"/>
          <p:cNvSpPr/>
          <p:nvPr/>
        </p:nvSpPr>
        <p:spPr>
          <a:xfrm>
            <a:off x="1828800" y="3429000"/>
            <a:ext cx="23774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A/B Testing &amp; Monitoring</a:t>
            </a:r>
            <a:endParaRPr b="0" i="0" sz="1300" u="none" cap="none" strike="noStrike">
              <a:solidFill>
                <a:schemeClr val="dk1"/>
              </a:solidFill>
              <a:latin typeface="Calibri"/>
              <a:ea typeface="Calibri"/>
              <a:cs typeface="Calibri"/>
              <a:sym typeface="Calibri"/>
            </a:endParaRPr>
          </a:p>
        </p:txBody>
      </p:sp>
      <p:sp>
        <p:nvSpPr>
          <p:cNvPr id="59" name="Google Shape;59;p2"/>
          <p:cNvSpPr/>
          <p:nvPr/>
        </p:nvSpPr>
        <p:spPr>
          <a:xfrm>
            <a:off x="1828800" y="3822192"/>
            <a:ext cx="2377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Measuring Retention Impact</a:t>
            </a:r>
            <a:endParaRPr b="0" i="0" sz="1000" u="none" cap="none" strike="noStrike">
              <a:solidFill>
                <a:schemeClr val="dk1"/>
              </a:solidFill>
              <a:latin typeface="Calibri"/>
              <a:ea typeface="Calibri"/>
              <a:cs typeface="Calibri"/>
              <a:sym typeface="Calibri"/>
            </a:endParaRPr>
          </a:p>
        </p:txBody>
      </p:sp>
      <p:sp>
        <p:nvSpPr>
          <p:cNvPr id="60" name="Google Shape;60;p2"/>
          <p:cNvSpPr/>
          <p:nvPr/>
        </p:nvSpPr>
        <p:spPr>
          <a:xfrm>
            <a:off x="4572000" y="2834640"/>
            <a:ext cx="2651760" cy="16459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4572000" y="2834640"/>
            <a:ext cx="2651760" cy="54864"/>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4709160" y="2999232"/>
            <a:ext cx="640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2600"/>
              <a:buFont typeface="Calibri"/>
              <a:buNone/>
            </a:pPr>
            <a:r>
              <a:rPr b="1" i="0" lang="en-US" sz="2600" u="none" cap="none" strike="noStrike">
                <a:solidFill>
                  <a:srgbClr val="FFD166"/>
                </a:solidFill>
                <a:latin typeface="Calibri"/>
                <a:ea typeface="Calibri"/>
                <a:cs typeface="Calibri"/>
                <a:sym typeface="Calibri"/>
              </a:rPr>
              <a:t>05</a:t>
            </a:r>
            <a:endParaRPr b="0" i="0" sz="2600" u="none" cap="none" strike="noStrike">
              <a:solidFill>
                <a:schemeClr val="dk1"/>
              </a:solidFill>
              <a:latin typeface="Calibri"/>
              <a:ea typeface="Calibri"/>
              <a:cs typeface="Calibri"/>
              <a:sym typeface="Calibri"/>
            </a:endParaRPr>
          </a:p>
        </p:txBody>
      </p:sp>
      <p:sp>
        <p:nvSpPr>
          <p:cNvPr id="63" name="Google Shape;63;p2"/>
          <p:cNvSpPr/>
          <p:nvPr/>
        </p:nvSpPr>
        <p:spPr>
          <a:xfrm>
            <a:off x="4709160" y="3429000"/>
            <a:ext cx="23774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Strategic Recommendations</a:t>
            </a:r>
            <a:endParaRPr b="0" i="0" sz="1300" u="none" cap="none" strike="noStrike">
              <a:solidFill>
                <a:schemeClr val="dk1"/>
              </a:solidFill>
              <a:latin typeface="Calibri"/>
              <a:ea typeface="Calibri"/>
              <a:cs typeface="Calibri"/>
              <a:sym typeface="Calibri"/>
            </a:endParaRPr>
          </a:p>
        </p:txBody>
      </p:sp>
      <p:sp>
        <p:nvSpPr>
          <p:cNvPr id="64" name="Google Shape;64;p2"/>
          <p:cNvSpPr/>
          <p:nvPr/>
        </p:nvSpPr>
        <p:spPr>
          <a:xfrm>
            <a:off x="4709160" y="3822192"/>
            <a:ext cx="23774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Next Steps for Improved Retention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69" name="Shape 69"/>
        <p:cNvGrpSpPr/>
        <p:nvPr/>
      </p:nvGrpSpPr>
      <p:grpSpPr>
        <a:xfrm>
          <a:off x="0" y="0"/>
          <a:ext cx="0" cy="0"/>
          <a:chOff x="0" y="0"/>
          <a:chExt cx="0" cy="0"/>
        </a:xfrm>
      </p:grpSpPr>
      <p:sp>
        <p:nvSpPr>
          <p:cNvPr id="70" name="Google Shape;70;p3"/>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411480" y="228600"/>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539496" y="182880"/>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Project Deep Dive</a:t>
            </a:r>
            <a:endParaRPr b="0" i="0" sz="2600" u="none" cap="none" strike="noStrike">
              <a:solidFill>
                <a:schemeClr val="dk1"/>
              </a:solidFill>
              <a:latin typeface="Calibri"/>
              <a:ea typeface="Calibri"/>
              <a:cs typeface="Calibri"/>
              <a:sym typeface="Calibri"/>
            </a:endParaRPr>
          </a:p>
        </p:txBody>
      </p:sp>
      <p:sp>
        <p:nvSpPr>
          <p:cNvPr id="74" name="Google Shape;74;p3"/>
          <p:cNvSpPr/>
          <p:nvPr/>
        </p:nvSpPr>
        <p:spPr>
          <a:xfrm>
            <a:off x="411480" y="822960"/>
            <a:ext cx="4114800" cy="402336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p:nvPr/>
        </p:nvSpPr>
        <p:spPr>
          <a:xfrm>
            <a:off x="411480" y="822960"/>
            <a:ext cx="41148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576072" y="1024128"/>
            <a:ext cx="457200" cy="457200"/>
          </a:xfrm>
          <a:prstGeom prst="ellipse">
            <a:avLst/>
          </a:prstGeom>
          <a:solidFill>
            <a:srgbClr val="00C9A7">
              <a:alpha val="85098"/>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576072" y="1051560"/>
            <a:ext cx="37490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000"/>
              <a:buFont typeface="Calibri"/>
              <a:buNone/>
            </a:pPr>
            <a:r>
              <a:rPr b="1" i="0" lang="en-US" sz="1300" u="none" cap="none" strike="noStrike">
                <a:solidFill>
                  <a:srgbClr val="00C9A7"/>
                </a:solidFill>
                <a:latin typeface="Calibri"/>
                <a:ea typeface="Calibri"/>
                <a:cs typeface="Calibri"/>
                <a:sym typeface="Calibri"/>
              </a:rPr>
              <a:t>BUSINESS REQUIREMENT</a:t>
            </a:r>
            <a:endParaRPr b="0" i="0" sz="1300" u="none" cap="none" strike="noStrike">
              <a:solidFill>
                <a:schemeClr val="dk1"/>
              </a:solidFill>
              <a:latin typeface="Calibri"/>
              <a:ea typeface="Calibri"/>
              <a:cs typeface="Calibri"/>
              <a:sym typeface="Calibri"/>
            </a:endParaRPr>
          </a:p>
        </p:txBody>
      </p:sp>
      <p:sp>
        <p:nvSpPr>
          <p:cNvPr id="78" name="Google Shape;78;p3"/>
          <p:cNvSpPr/>
          <p:nvPr/>
        </p:nvSpPr>
        <p:spPr>
          <a:xfrm>
            <a:off x="612648" y="1600200"/>
            <a:ext cx="3712464" cy="30175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250"/>
              <a:buFont typeface="Calibri"/>
              <a:buNone/>
            </a:pPr>
            <a:r>
              <a:rPr b="0" i="0" lang="en-US" sz="1250" u="none" cap="none" strike="noStrike">
                <a:solidFill>
                  <a:srgbClr val="B8C6E0"/>
                </a:solidFill>
                <a:latin typeface="Calibri"/>
                <a:ea typeface="Calibri"/>
                <a:cs typeface="Calibri"/>
                <a:sym typeface="Calibri"/>
              </a:rPr>
              <a:t>Bridge the gap between user interaction data and final booking behaviors by creating a unified, holistic view of the customer journey — capturing page clicks, session lengths, and discount.</a:t>
            </a:r>
            <a:endParaRPr b="0" i="0" sz="1250" u="none" cap="none" strike="noStrike">
              <a:solidFill>
                <a:schemeClr val="dk1"/>
              </a:solidFill>
              <a:latin typeface="Calibri"/>
              <a:ea typeface="Calibri"/>
              <a:cs typeface="Calibri"/>
              <a:sym typeface="Calibri"/>
            </a:endParaRPr>
          </a:p>
        </p:txBody>
      </p:sp>
      <p:sp>
        <p:nvSpPr>
          <p:cNvPr id="79" name="Google Shape;79;p3"/>
          <p:cNvSpPr/>
          <p:nvPr/>
        </p:nvSpPr>
        <p:spPr>
          <a:xfrm>
            <a:off x="4800600" y="822960"/>
            <a:ext cx="4114800" cy="402336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
          <p:cNvSpPr/>
          <p:nvPr/>
        </p:nvSpPr>
        <p:spPr>
          <a:xfrm>
            <a:off x="4800600" y="822960"/>
            <a:ext cx="41148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a:off x="4965192" y="1024128"/>
            <a:ext cx="457200" cy="457200"/>
          </a:xfrm>
          <a:prstGeom prst="ellipse">
            <a:avLst/>
          </a:prstGeom>
          <a:solidFill>
            <a:srgbClr val="FFD166">
              <a:alpha val="85098"/>
            </a:srgbClr>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a:off x="4965192" y="1051560"/>
            <a:ext cx="37490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1000"/>
              <a:buFont typeface="Calibri"/>
              <a:buNone/>
            </a:pPr>
            <a:r>
              <a:rPr b="1" i="0" lang="en-US" sz="1600" u="none" cap="none" strike="noStrike">
                <a:solidFill>
                  <a:srgbClr val="FFD166"/>
                </a:solidFill>
                <a:latin typeface="Calibri"/>
                <a:ea typeface="Calibri"/>
                <a:cs typeface="Calibri"/>
                <a:sym typeface="Calibri"/>
              </a:rPr>
              <a:t>GOAL</a:t>
            </a:r>
            <a:endParaRPr b="0" i="0" sz="1600" u="none" cap="none" strike="noStrike">
              <a:solidFill>
                <a:schemeClr val="dk1"/>
              </a:solidFill>
              <a:latin typeface="Calibri"/>
              <a:ea typeface="Calibri"/>
              <a:cs typeface="Calibri"/>
              <a:sym typeface="Calibri"/>
            </a:endParaRPr>
          </a:p>
        </p:txBody>
      </p:sp>
      <p:sp>
        <p:nvSpPr>
          <p:cNvPr id="83" name="Google Shape;83;p3"/>
          <p:cNvSpPr/>
          <p:nvPr/>
        </p:nvSpPr>
        <p:spPr>
          <a:xfrm>
            <a:off x="5001768" y="1600200"/>
            <a:ext cx="3712464" cy="3017520"/>
          </a:xfrm>
          <a:prstGeom prst="rect">
            <a:avLst/>
          </a:prstGeom>
          <a:noFill/>
          <a:ln>
            <a:noFill/>
          </a:ln>
        </p:spPr>
        <p:txBody>
          <a:bodyPr anchorCtr="0" anchor="ctr" bIns="0" lIns="0" spcFirstLastPara="1" rIns="0" wrap="square" tIns="0">
            <a:noAutofit/>
          </a:bodyPr>
          <a:lstStyle/>
          <a:p>
            <a:pPr indent="-298450" lvl="0" marL="457200" marR="0" rtl="0" algn="l">
              <a:lnSpc>
                <a:spcPct val="140000"/>
              </a:lnSpc>
              <a:spcBef>
                <a:spcPts val="0"/>
              </a:spcBef>
              <a:spcAft>
                <a:spcPts val="0"/>
              </a:spcAft>
              <a:buClr>
                <a:srgbClr val="B8C6E0"/>
              </a:buClr>
              <a:buSzPts val="1100"/>
              <a:buFont typeface="Arial"/>
              <a:buChar char="●"/>
            </a:pPr>
            <a:r>
              <a:rPr b="0" i="0" lang="en-US" sz="1100" u="none" cap="none" strike="noStrike">
                <a:solidFill>
                  <a:srgbClr val="B8C6E0"/>
                </a:solidFill>
                <a:latin typeface="Arial"/>
                <a:ea typeface="Arial"/>
                <a:cs typeface="Arial"/>
                <a:sym typeface="Arial"/>
              </a:rPr>
              <a:t>Build a </a:t>
            </a:r>
            <a:r>
              <a:rPr b="1" i="0" lang="en-US" sz="1100" u="none" cap="none" strike="noStrike">
                <a:solidFill>
                  <a:srgbClr val="B8C6E0"/>
                </a:solidFill>
                <a:latin typeface="Arial"/>
                <a:ea typeface="Arial"/>
                <a:cs typeface="Arial"/>
                <a:sym typeface="Arial"/>
              </a:rPr>
              <a:t>customer segmentation model</a:t>
            </a:r>
            <a:r>
              <a:rPr b="0" i="0" lang="en-US" sz="1100" u="none" cap="none" strike="noStrike">
                <a:solidFill>
                  <a:srgbClr val="B8C6E0"/>
                </a:solidFill>
                <a:latin typeface="Arial"/>
                <a:ea typeface="Arial"/>
                <a:cs typeface="Arial"/>
                <a:sym typeface="Arial"/>
              </a:rPr>
              <a:t> to assign every user in the cohort to a single rewards perk.</a:t>
            </a:r>
            <a:endParaRPr b="0" i="0" sz="1100" u="none" cap="none" strike="noStrike">
              <a:solidFill>
                <a:srgbClr val="B8C6E0"/>
              </a:solidFill>
              <a:latin typeface="Arial"/>
              <a:ea typeface="Arial"/>
              <a:cs typeface="Arial"/>
              <a:sym typeface="Arial"/>
            </a:endParaRPr>
          </a:p>
          <a:p>
            <a:pPr indent="-298450" lvl="0" marL="457200" marR="0" rtl="0" algn="l">
              <a:lnSpc>
                <a:spcPct val="140000"/>
              </a:lnSpc>
              <a:spcBef>
                <a:spcPts val="0"/>
              </a:spcBef>
              <a:spcAft>
                <a:spcPts val="0"/>
              </a:spcAft>
              <a:buClr>
                <a:srgbClr val="B8C6E0"/>
              </a:buClr>
              <a:buSzPts val="1100"/>
              <a:buFont typeface="Arial"/>
              <a:buChar char="●"/>
            </a:pPr>
            <a:r>
              <a:rPr b="0" i="0" lang="en-US" sz="1100" u="none" cap="none" strike="noStrike">
                <a:solidFill>
                  <a:srgbClr val="B8C6E0"/>
                </a:solidFill>
                <a:latin typeface="Arial"/>
                <a:ea typeface="Arial"/>
                <a:cs typeface="Arial"/>
                <a:sym typeface="Arial"/>
              </a:rPr>
              <a:t>The segmentation must be defensible both through a </a:t>
            </a:r>
            <a:r>
              <a:rPr b="1" i="0" lang="en-US" sz="1100" u="none" cap="none" strike="noStrike">
                <a:solidFill>
                  <a:srgbClr val="B8C6E0"/>
                </a:solidFill>
                <a:latin typeface="Arial"/>
                <a:ea typeface="Arial"/>
                <a:cs typeface="Arial"/>
                <a:sym typeface="Arial"/>
              </a:rPr>
              <a:t>rule-based RFM scoring approach</a:t>
            </a:r>
            <a:r>
              <a:rPr b="0" i="0" lang="en-US" sz="1100" u="none" cap="none" strike="noStrike">
                <a:solidFill>
                  <a:srgbClr val="B8C6E0"/>
                </a:solidFill>
                <a:latin typeface="Arial"/>
                <a:ea typeface="Arial"/>
                <a:cs typeface="Arial"/>
                <a:sym typeface="Arial"/>
              </a:rPr>
              <a:t>, so that the business can confidently deploy personalized perk offers and measure their effect on user retention </a:t>
            </a:r>
            <a:endParaRPr b="0" i="0" sz="1250" u="none" cap="none" strike="noStrike">
              <a:solidFill>
                <a:srgbClr val="B8C6E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88" name="Shape 88"/>
        <p:cNvGrpSpPr/>
        <p:nvPr/>
      </p:nvGrpSpPr>
      <p:grpSpPr>
        <a:xfrm>
          <a:off x="0" y="0"/>
          <a:ext cx="0" cy="0"/>
          <a:chOff x="0" y="0"/>
          <a:chExt cx="0" cy="0"/>
        </a:xfrm>
      </p:grpSpPr>
      <p:sp>
        <p:nvSpPr>
          <p:cNvPr id="89" name="Google Shape;89;p4"/>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4"/>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
          <p:cNvSpPr/>
          <p:nvPr/>
        </p:nvSpPr>
        <p:spPr>
          <a:xfrm>
            <a:off x="274320" y="457200"/>
            <a:ext cx="3657600" cy="320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C9A7"/>
              </a:buClr>
              <a:buSzPts val="16000"/>
              <a:buFont typeface="Calibri"/>
              <a:buNone/>
            </a:pPr>
            <a:r>
              <a:rPr b="1" i="0" lang="en-US" sz="16000" u="none" cap="none" strike="noStrike">
                <a:solidFill>
                  <a:srgbClr val="00C9A7"/>
                </a:solidFill>
                <a:latin typeface="Calibri"/>
                <a:ea typeface="Calibri"/>
                <a:cs typeface="Calibri"/>
                <a:sym typeface="Calibri"/>
              </a:rPr>
              <a:t>01</a:t>
            </a:r>
            <a:endParaRPr b="0" i="0" sz="16000" u="none" cap="none" strike="noStrike">
              <a:solidFill>
                <a:schemeClr val="dk1"/>
              </a:solidFill>
              <a:latin typeface="Calibri"/>
              <a:ea typeface="Calibri"/>
              <a:cs typeface="Calibri"/>
              <a:sym typeface="Calibri"/>
            </a:endParaRPr>
          </a:p>
        </p:txBody>
      </p:sp>
      <p:sp>
        <p:nvSpPr>
          <p:cNvPr id="92" name="Google Shape;92;p4"/>
          <p:cNvSpPr/>
          <p:nvPr/>
        </p:nvSpPr>
        <p:spPr>
          <a:xfrm>
            <a:off x="411480" y="2194560"/>
            <a:ext cx="73152" cy="137160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
          <p:cNvSpPr/>
          <p:nvPr/>
        </p:nvSpPr>
        <p:spPr>
          <a:xfrm>
            <a:off x="3263685" y="1464505"/>
            <a:ext cx="7315200" cy="164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Session Data</a:t>
            </a:r>
            <a:endParaRPr b="0" i="0" sz="4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Analysis</a:t>
            </a:r>
            <a:endParaRPr b="0" i="0" sz="4000" u="none" cap="none" strike="noStrike">
              <a:solidFill>
                <a:schemeClr val="dk1"/>
              </a:solidFill>
              <a:latin typeface="Calibri"/>
              <a:ea typeface="Calibri"/>
              <a:cs typeface="Calibri"/>
              <a:sym typeface="Calibri"/>
            </a:endParaRPr>
          </a:p>
        </p:txBody>
      </p:sp>
      <p:sp>
        <p:nvSpPr>
          <p:cNvPr id="94" name="Google Shape;94;p4"/>
          <p:cNvSpPr/>
          <p:nvPr/>
        </p:nvSpPr>
        <p:spPr>
          <a:xfrm>
            <a:off x="594360" y="3710295"/>
            <a:ext cx="64008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Exploratory analysis of user sessions — understanding engagement patterns, booking behaviors, and platform drop-off points.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99" name="Shape 99"/>
        <p:cNvGrpSpPr/>
        <p:nvPr/>
      </p:nvGrpSpPr>
      <p:grpSpPr>
        <a:xfrm>
          <a:off x="0" y="0"/>
          <a:ext cx="0" cy="0"/>
          <a:chOff x="0" y="0"/>
          <a:chExt cx="0" cy="0"/>
        </a:xfrm>
      </p:grpSpPr>
      <p:sp>
        <p:nvSpPr>
          <p:cNvPr id="100" name="Google Shape;100;p5"/>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5"/>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Daily Active User Trend</a:t>
            </a:r>
            <a:endParaRPr b="0" i="0" sz="2200" u="none" cap="none" strike="noStrike">
              <a:solidFill>
                <a:schemeClr val="dk1"/>
              </a:solidFill>
              <a:latin typeface="Calibri"/>
              <a:ea typeface="Calibri"/>
              <a:cs typeface="Calibri"/>
              <a:sym typeface="Calibri"/>
            </a:endParaRPr>
          </a:p>
        </p:txBody>
      </p:sp>
      <p:pic>
        <p:nvPicPr>
          <p:cNvPr descr="preencoded.png" id="104" name="Google Shape;104;p5"/>
          <p:cNvPicPr preferRelativeResize="0"/>
          <p:nvPr/>
        </p:nvPicPr>
        <p:blipFill rotWithShape="1">
          <a:blip r:embed="rId3">
            <a:alphaModFix/>
          </a:blip>
          <a:srcRect b="0" l="0" r="0" t="0"/>
          <a:stretch/>
        </p:blipFill>
        <p:spPr>
          <a:xfrm>
            <a:off x="96300" y="713225"/>
            <a:ext cx="5603501" cy="4114800"/>
          </a:xfrm>
          <a:prstGeom prst="rect">
            <a:avLst/>
          </a:prstGeom>
          <a:noFill/>
          <a:ln>
            <a:noFill/>
          </a:ln>
        </p:spPr>
      </p:pic>
      <p:sp>
        <p:nvSpPr>
          <p:cNvPr id="105" name="Google Shape;105;p5"/>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
          <p:cNvSpPr/>
          <p:nvPr/>
        </p:nvSpPr>
        <p:spPr>
          <a:xfrm>
            <a:off x="5760720" y="713232"/>
            <a:ext cx="315468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5"/>
          <p:cNvSpPr/>
          <p:nvPr/>
        </p:nvSpPr>
        <p:spPr>
          <a:xfrm>
            <a:off x="5897880" y="868680"/>
            <a:ext cx="2834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1100"/>
              <a:buFont typeface="Calibri"/>
              <a:buNone/>
            </a:pPr>
            <a:r>
              <a:rPr b="1" i="0" lang="en-US" sz="1100" u="none" cap="none" strike="noStrike">
                <a:solidFill>
                  <a:srgbClr val="FF6B6B"/>
                </a:solidFill>
                <a:latin typeface="Calibri"/>
                <a:ea typeface="Calibri"/>
                <a:cs typeface="Calibri"/>
                <a:sym typeface="Calibri"/>
              </a:rPr>
              <a:t>Key Insight</a:t>
            </a:r>
            <a:endParaRPr b="0" i="0" sz="1100" u="none" cap="none" strike="noStrike">
              <a:solidFill>
                <a:schemeClr val="dk1"/>
              </a:solidFill>
              <a:latin typeface="Calibri"/>
              <a:ea typeface="Calibri"/>
              <a:cs typeface="Calibri"/>
              <a:sym typeface="Calibri"/>
            </a:endParaRPr>
          </a:p>
        </p:txBody>
      </p:sp>
      <p:sp>
        <p:nvSpPr>
          <p:cNvPr id="108" name="Google Shape;108;p5"/>
          <p:cNvSpPr/>
          <p:nvPr/>
        </p:nvSpPr>
        <p:spPr>
          <a:xfrm>
            <a:off x="5897880" y="1170432"/>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Post-April 2023 Decline</a:t>
            </a:r>
            <a:endParaRPr b="0" i="0" sz="1500" u="none" cap="none" strike="noStrike">
              <a:solidFill>
                <a:schemeClr val="dk1"/>
              </a:solidFill>
              <a:latin typeface="Calibri"/>
              <a:ea typeface="Calibri"/>
              <a:cs typeface="Calibri"/>
              <a:sym typeface="Calibri"/>
            </a:endParaRPr>
          </a:p>
        </p:txBody>
      </p:sp>
      <p:sp>
        <p:nvSpPr>
          <p:cNvPr id="109" name="Google Shape;109;p5"/>
          <p:cNvSpPr/>
          <p:nvPr/>
        </p:nvSpPr>
        <p:spPr>
          <a:xfrm>
            <a:off x="5897880" y="1645920"/>
            <a:ext cx="2834640" cy="1828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Our platform's DAU peaked in Q1 2023 and has experienced a steady downward trajectory — signaling a post-launch engagement retraction that requires immediate retention intervention.</a:t>
            </a:r>
            <a:endParaRPr b="0" i="0" sz="1150" u="none" cap="none" strike="noStrike">
              <a:solidFill>
                <a:schemeClr val="dk1"/>
              </a:solidFill>
              <a:latin typeface="Calibri"/>
              <a:ea typeface="Calibri"/>
              <a:cs typeface="Calibri"/>
              <a:sym typeface="Calibri"/>
            </a:endParaRPr>
          </a:p>
        </p:txBody>
      </p:sp>
      <p:sp>
        <p:nvSpPr>
          <p:cNvPr id="110" name="Google Shape;110;p5"/>
          <p:cNvSpPr/>
          <p:nvPr/>
        </p:nvSpPr>
        <p:spPr>
          <a:xfrm>
            <a:off x="5897880" y="3566160"/>
            <a:ext cx="2834640" cy="36576"/>
          </a:xfrm>
          <a:prstGeom prst="rect">
            <a:avLst/>
          </a:prstGeom>
          <a:solidFill>
            <a:srgbClr val="00C9A7">
              <a:alpha val="50196"/>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
          <p:cNvSpPr/>
          <p:nvPr/>
        </p:nvSpPr>
        <p:spPr>
          <a:xfrm>
            <a:off x="5897880" y="3657600"/>
            <a:ext cx="283464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050"/>
              <a:buFont typeface="Calibri"/>
              <a:buNone/>
            </a:pPr>
            <a:r>
              <a:rPr b="0" i="1" lang="en-US" sz="1050" u="none" cap="none" strike="noStrike">
                <a:solidFill>
                  <a:srgbClr val="00C9A7"/>
                </a:solidFill>
                <a:latin typeface="Calibri"/>
                <a:ea typeface="Calibri"/>
                <a:cs typeface="Calibri"/>
                <a:sym typeface="Calibri"/>
              </a:rPr>
              <a:t>Action Required: Deploy targeted re-engagement campaigns before further user attrition occurs.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116" name="Shape 116"/>
        <p:cNvGrpSpPr/>
        <p:nvPr/>
      </p:nvGrpSpPr>
      <p:grpSpPr>
        <a:xfrm>
          <a:off x="0" y="0"/>
          <a:ext cx="0" cy="0"/>
          <a:chOff x="0" y="0"/>
          <a:chExt cx="0" cy="0"/>
        </a:xfrm>
      </p:grpSpPr>
      <p:sp>
        <p:nvSpPr>
          <p:cNvPr id="117" name="Google Shape;117;p6"/>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6"/>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Engagement Level vs. Conversion Rate</a:t>
            </a:r>
            <a:endParaRPr b="0" i="0" sz="2200" u="none" cap="none" strike="noStrike">
              <a:solidFill>
                <a:schemeClr val="dk1"/>
              </a:solidFill>
              <a:latin typeface="Calibri"/>
              <a:ea typeface="Calibri"/>
              <a:cs typeface="Calibri"/>
              <a:sym typeface="Calibri"/>
            </a:endParaRPr>
          </a:p>
        </p:txBody>
      </p:sp>
      <p:pic>
        <p:nvPicPr>
          <p:cNvPr descr="preencoded.png" id="121" name="Google Shape;121;p6"/>
          <p:cNvPicPr preferRelativeResize="0"/>
          <p:nvPr/>
        </p:nvPicPr>
        <p:blipFill rotWithShape="1">
          <a:blip r:embed="rId3">
            <a:alphaModFix/>
          </a:blip>
          <a:srcRect b="0" l="0" r="0" t="0"/>
          <a:stretch/>
        </p:blipFill>
        <p:spPr>
          <a:xfrm>
            <a:off x="274320" y="713232"/>
            <a:ext cx="5303520" cy="4114800"/>
          </a:xfrm>
          <a:prstGeom prst="rect">
            <a:avLst/>
          </a:prstGeom>
          <a:noFill/>
          <a:ln>
            <a:noFill/>
          </a:ln>
        </p:spPr>
      </p:pic>
      <p:sp>
        <p:nvSpPr>
          <p:cNvPr id="122" name="Google Shape;122;p6"/>
          <p:cNvSpPr/>
          <p:nvPr/>
        </p:nvSpPr>
        <p:spPr>
          <a:xfrm>
            <a:off x="5760720" y="713232"/>
            <a:ext cx="3154680" cy="192024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6"/>
          <p:cNvSpPr/>
          <p:nvPr/>
        </p:nvSpPr>
        <p:spPr>
          <a:xfrm>
            <a:off x="5760720" y="713232"/>
            <a:ext cx="31546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6"/>
          <p:cNvSpPr/>
          <p:nvPr/>
        </p:nvSpPr>
        <p:spPr>
          <a:xfrm>
            <a:off x="5852160" y="868680"/>
            <a:ext cx="29260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3800"/>
              <a:buFont typeface="Calibri"/>
              <a:buNone/>
            </a:pPr>
            <a:r>
              <a:rPr b="1" i="0" lang="en-US" sz="3800" u="none" cap="none" strike="noStrike">
                <a:solidFill>
                  <a:srgbClr val="00C9A7"/>
                </a:solidFill>
                <a:latin typeface="Calibri"/>
                <a:ea typeface="Calibri"/>
                <a:cs typeface="Calibri"/>
                <a:sym typeface="Calibri"/>
              </a:rPr>
              <a:t>65%+</a:t>
            </a:r>
            <a:endParaRPr b="0" i="0" sz="3800" u="none" cap="none" strike="noStrike">
              <a:solidFill>
                <a:schemeClr val="dk1"/>
              </a:solidFill>
              <a:latin typeface="Calibri"/>
              <a:ea typeface="Calibri"/>
              <a:cs typeface="Calibri"/>
              <a:sym typeface="Calibri"/>
            </a:endParaRPr>
          </a:p>
        </p:txBody>
      </p:sp>
      <p:sp>
        <p:nvSpPr>
          <p:cNvPr id="125" name="Google Shape;125;p6"/>
          <p:cNvSpPr/>
          <p:nvPr/>
        </p:nvSpPr>
        <p:spPr>
          <a:xfrm>
            <a:off x="5852160" y="1463040"/>
            <a:ext cx="29260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conversion for 25+ click users</a:t>
            </a:r>
            <a:endParaRPr b="0" i="0" sz="1100" u="none" cap="none" strike="noStrike">
              <a:solidFill>
                <a:schemeClr val="dk1"/>
              </a:solidFill>
              <a:latin typeface="Calibri"/>
              <a:ea typeface="Calibri"/>
              <a:cs typeface="Calibri"/>
              <a:sym typeface="Calibri"/>
            </a:endParaRPr>
          </a:p>
        </p:txBody>
      </p:sp>
      <p:sp>
        <p:nvSpPr>
          <p:cNvPr id="126" name="Google Shape;126;p6"/>
          <p:cNvSpPr/>
          <p:nvPr/>
        </p:nvSpPr>
        <p:spPr>
          <a:xfrm>
            <a:off x="5760720" y="2743200"/>
            <a:ext cx="3154680" cy="2084832"/>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6"/>
          <p:cNvSpPr/>
          <p:nvPr/>
        </p:nvSpPr>
        <p:spPr>
          <a:xfrm>
            <a:off x="5760720" y="2743200"/>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6"/>
          <p:cNvSpPr/>
          <p:nvPr/>
        </p:nvSpPr>
        <p:spPr>
          <a:xfrm>
            <a:off x="5897880" y="28803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The checkout funnel is not broken</a:t>
            </a:r>
            <a:endParaRPr b="0" i="0" sz="1300" u="none" cap="none" strike="noStrike">
              <a:solidFill>
                <a:schemeClr val="dk1"/>
              </a:solidFill>
              <a:latin typeface="Calibri"/>
              <a:ea typeface="Calibri"/>
              <a:cs typeface="Calibri"/>
              <a:sym typeface="Calibri"/>
            </a:endParaRPr>
          </a:p>
        </p:txBody>
      </p:sp>
      <p:sp>
        <p:nvSpPr>
          <p:cNvPr id="129" name="Google Shape;129;p6"/>
          <p:cNvSpPr/>
          <p:nvPr/>
        </p:nvSpPr>
        <p:spPr>
          <a:xfrm>
            <a:off x="5897880" y="3337560"/>
            <a:ext cx="2834640" cy="13716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High-engagement users convert exceptionally well. The opportunity is to move more users into that 25+ click zone earlier in their journey through smarter personalization.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134" name="Shape 134"/>
        <p:cNvGrpSpPr/>
        <p:nvPr/>
      </p:nvGrpSpPr>
      <p:grpSpPr>
        <a:xfrm>
          <a:off x="0" y="0"/>
          <a:ext cx="0" cy="0"/>
          <a:chOff x="0" y="0"/>
          <a:chExt cx="0" cy="0"/>
        </a:xfrm>
      </p:grpSpPr>
      <p:sp>
        <p:nvSpPr>
          <p:cNvPr id="135" name="Google Shape;135;p7"/>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7"/>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7"/>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7"/>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The Flight–Hotel Bundle Revenue Gap</a:t>
            </a:r>
            <a:endParaRPr b="0" i="0" sz="2200" u="none" cap="none" strike="noStrike">
              <a:solidFill>
                <a:schemeClr val="dk1"/>
              </a:solidFill>
              <a:latin typeface="Calibri"/>
              <a:ea typeface="Calibri"/>
              <a:cs typeface="Calibri"/>
              <a:sym typeface="Calibri"/>
            </a:endParaRPr>
          </a:p>
        </p:txBody>
      </p:sp>
      <p:pic>
        <p:nvPicPr>
          <p:cNvPr descr="preencoded.png" id="139" name="Google Shape;139;p7"/>
          <p:cNvPicPr preferRelativeResize="0"/>
          <p:nvPr/>
        </p:nvPicPr>
        <p:blipFill rotWithShape="1">
          <a:blip r:embed="rId3">
            <a:alphaModFix/>
          </a:blip>
          <a:srcRect b="0" l="0" r="0" t="0"/>
          <a:stretch/>
        </p:blipFill>
        <p:spPr>
          <a:xfrm>
            <a:off x="96300" y="713225"/>
            <a:ext cx="5352599" cy="4114800"/>
          </a:xfrm>
          <a:prstGeom prst="rect">
            <a:avLst/>
          </a:prstGeom>
          <a:noFill/>
          <a:ln>
            <a:noFill/>
          </a:ln>
        </p:spPr>
      </p:pic>
      <p:sp>
        <p:nvSpPr>
          <p:cNvPr id="140" name="Google Shape;140;p7"/>
          <p:cNvSpPr/>
          <p:nvPr/>
        </p:nvSpPr>
        <p:spPr>
          <a:xfrm>
            <a:off x="5532120" y="713232"/>
            <a:ext cx="1508760" cy="1417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7"/>
          <p:cNvSpPr/>
          <p:nvPr/>
        </p:nvSpPr>
        <p:spPr>
          <a:xfrm>
            <a:off x="5532120" y="713232"/>
            <a:ext cx="150876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7"/>
          <p:cNvSpPr/>
          <p:nvPr/>
        </p:nvSpPr>
        <p:spPr>
          <a:xfrm>
            <a:off x="5532120" y="850392"/>
            <a:ext cx="1508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B6B"/>
              </a:buClr>
              <a:buSzPts val="3200"/>
              <a:buFont typeface="Calibri"/>
              <a:buNone/>
            </a:pPr>
            <a:r>
              <a:rPr b="1" i="0" lang="en-US" sz="3200" u="none" cap="none" strike="noStrike">
                <a:solidFill>
                  <a:srgbClr val="FF6B6B"/>
                </a:solidFill>
                <a:latin typeface="Calibri"/>
                <a:ea typeface="Calibri"/>
                <a:cs typeface="Calibri"/>
                <a:sym typeface="Calibri"/>
              </a:rPr>
              <a:t>75%</a:t>
            </a:r>
            <a:endParaRPr b="0" i="0" sz="3200" u="none" cap="none" strike="noStrike">
              <a:solidFill>
                <a:schemeClr val="dk1"/>
              </a:solidFill>
              <a:latin typeface="Calibri"/>
              <a:ea typeface="Calibri"/>
              <a:cs typeface="Calibri"/>
              <a:sym typeface="Calibri"/>
            </a:endParaRPr>
          </a:p>
        </p:txBody>
      </p:sp>
      <p:sp>
        <p:nvSpPr>
          <p:cNvPr id="143" name="Google Shape;143;p7"/>
          <p:cNvSpPr/>
          <p:nvPr/>
        </p:nvSpPr>
        <p:spPr>
          <a:xfrm>
            <a:off x="5532120" y="1463040"/>
            <a:ext cx="1508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flight-only sessions</a:t>
            </a:r>
            <a:endParaRPr b="0" i="0" sz="1100" u="none" cap="none" strike="noStrike">
              <a:solidFill>
                <a:schemeClr val="dk1"/>
              </a:solidFill>
              <a:latin typeface="Calibri"/>
              <a:ea typeface="Calibri"/>
              <a:cs typeface="Calibri"/>
              <a:sym typeface="Calibri"/>
            </a:endParaRPr>
          </a:p>
        </p:txBody>
      </p:sp>
      <p:sp>
        <p:nvSpPr>
          <p:cNvPr id="144" name="Google Shape;144;p7"/>
          <p:cNvSpPr/>
          <p:nvPr/>
        </p:nvSpPr>
        <p:spPr>
          <a:xfrm>
            <a:off x="7178040" y="713232"/>
            <a:ext cx="1508760" cy="1417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7"/>
          <p:cNvSpPr/>
          <p:nvPr/>
        </p:nvSpPr>
        <p:spPr>
          <a:xfrm>
            <a:off x="7178040" y="713232"/>
            <a:ext cx="150876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7"/>
          <p:cNvSpPr/>
          <p:nvPr/>
        </p:nvSpPr>
        <p:spPr>
          <a:xfrm>
            <a:off x="7178040" y="850392"/>
            <a:ext cx="1508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3200"/>
              <a:buFont typeface="Calibri"/>
              <a:buNone/>
            </a:pPr>
            <a:r>
              <a:rPr b="1" i="0" lang="en-US" sz="3200" u="none" cap="none" strike="noStrike">
                <a:solidFill>
                  <a:srgbClr val="00C9A7"/>
                </a:solidFill>
                <a:latin typeface="Calibri"/>
                <a:ea typeface="Calibri"/>
                <a:cs typeface="Calibri"/>
                <a:sym typeface="Calibri"/>
              </a:rPr>
              <a:t>25%</a:t>
            </a:r>
            <a:endParaRPr b="0" i="0" sz="3200" u="none" cap="none" strike="noStrike">
              <a:solidFill>
                <a:schemeClr val="dk1"/>
              </a:solidFill>
              <a:latin typeface="Calibri"/>
              <a:ea typeface="Calibri"/>
              <a:cs typeface="Calibri"/>
              <a:sym typeface="Calibri"/>
            </a:endParaRPr>
          </a:p>
        </p:txBody>
      </p:sp>
      <p:sp>
        <p:nvSpPr>
          <p:cNvPr id="147" name="Google Shape;147;p7"/>
          <p:cNvSpPr/>
          <p:nvPr/>
        </p:nvSpPr>
        <p:spPr>
          <a:xfrm>
            <a:off x="7178040" y="1463040"/>
            <a:ext cx="1508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bundled bookings</a:t>
            </a:r>
            <a:endParaRPr b="0" i="0" sz="1100" u="none" cap="none" strike="noStrike">
              <a:solidFill>
                <a:schemeClr val="dk1"/>
              </a:solidFill>
              <a:latin typeface="Calibri"/>
              <a:ea typeface="Calibri"/>
              <a:cs typeface="Calibri"/>
              <a:sym typeface="Calibri"/>
            </a:endParaRPr>
          </a:p>
        </p:txBody>
      </p:sp>
      <p:sp>
        <p:nvSpPr>
          <p:cNvPr id="148" name="Google Shape;148;p7"/>
          <p:cNvSpPr/>
          <p:nvPr/>
        </p:nvSpPr>
        <p:spPr>
          <a:xfrm>
            <a:off x="5532120" y="2267712"/>
            <a:ext cx="3154680" cy="2560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7"/>
          <p:cNvSpPr/>
          <p:nvPr/>
        </p:nvSpPr>
        <p:spPr>
          <a:xfrm>
            <a:off x="5532120" y="2267712"/>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7"/>
          <p:cNvSpPr/>
          <p:nvPr/>
        </p:nvSpPr>
        <p:spPr>
          <a:xfrm>
            <a:off x="5669280" y="2395728"/>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The Untapped Opportunity</a:t>
            </a:r>
            <a:endParaRPr b="0" i="0" sz="1300" u="none" cap="none" strike="noStrike">
              <a:solidFill>
                <a:schemeClr val="dk1"/>
              </a:solidFill>
              <a:latin typeface="Calibri"/>
              <a:ea typeface="Calibri"/>
              <a:cs typeface="Calibri"/>
              <a:sym typeface="Calibri"/>
            </a:endParaRPr>
          </a:p>
        </p:txBody>
      </p:sp>
      <p:sp>
        <p:nvSpPr>
          <p:cNvPr id="151" name="Google Shape;151;p7"/>
          <p:cNvSpPr/>
          <p:nvPr/>
        </p:nvSpPr>
        <p:spPr>
          <a:xfrm>
            <a:off x="5669280" y="2816352"/>
            <a:ext cx="2834640" cy="18288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FF6B6B"/>
              </a:buClr>
              <a:buSzPts val="1100"/>
              <a:buFont typeface="Calibri"/>
              <a:buNone/>
            </a:pPr>
            <a:r>
              <a:rPr b="1" i="0" lang="en-US" sz="1100" u="none" cap="none" strike="noStrike">
                <a:solidFill>
                  <a:srgbClr val="FF6B6B"/>
                </a:solidFill>
                <a:latin typeface="Calibri"/>
                <a:ea typeface="Calibri"/>
                <a:cs typeface="Calibri"/>
                <a:sym typeface="Calibri"/>
              </a:rPr>
              <a:t>Current Gap: </a:t>
            </a:r>
            <a:r>
              <a:rPr b="0" i="0" lang="en-US" sz="1100" u="none" cap="none" strike="noStrike">
                <a:solidFill>
                  <a:srgbClr val="B8C6E0"/>
                </a:solidFill>
                <a:latin typeface="Calibri"/>
                <a:ea typeface="Calibri"/>
                <a:cs typeface="Calibri"/>
                <a:sym typeface="Calibri"/>
              </a:rPr>
              <a:t>75% of flight bookings have no hotel attached — our largest single revenue leakage point.</a:t>
            </a:r>
            <a:br>
              <a:rPr b="0" i="0" lang="en-US" sz="1100" u="none" cap="none" strike="noStrike">
                <a:solidFill>
                  <a:srgbClr val="B8C6E0"/>
                </a:solidFill>
                <a:latin typeface="Calibri"/>
                <a:ea typeface="Calibri"/>
                <a:cs typeface="Calibri"/>
                <a:sym typeface="Calibri"/>
              </a:rPr>
            </a:br>
            <a:br>
              <a:rPr b="0" i="0" lang="en-US" sz="1100" u="none" cap="none" strike="noStrike">
                <a:solidFill>
                  <a:srgbClr val="B8C6E0"/>
                </a:solidFill>
                <a:latin typeface="Calibri"/>
                <a:ea typeface="Calibri"/>
                <a:cs typeface="Calibri"/>
                <a:sym typeface="Calibri"/>
              </a:rPr>
            </a:br>
            <a:r>
              <a:rPr b="1" i="0" lang="en-US" sz="1100" u="none" cap="none" strike="noStrike">
                <a:solidFill>
                  <a:srgbClr val="00C9A7"/>
                </a:solidFill>
                <a:latin typeface="Calibri"/>
                <a:ea typeface="Calibri"/>
                <a:cs typeface="Calibri"/>
                <a:sym typeface="Calibri"/>
              </a:rPr>
              <a:t>Revenue Action: </a:t>
            </a:r>
            <a:r>
              <a:rPr b="0" i="0" lang="en-US" sz="1100" u="none" cap="none" strike="noStrike">
                <a:solidFill>
                  <a:srgbClr val="B8C6E0"/>
                </a:solidFill>
                <a:latin typeface="Calibri"/>
                <a:ea typeface="Calibri"/>
                <a:cs typeface="Calibri"/>
                <a:sym typeface="Calibri"/>
              </a:rPr>
              <a:t>Capturing even 10% of un-bundled flight bookers into hotel bundlers represents a significant incremental revenue uplift.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156" name="Shape 156"/>
        <p:cNvGrpSpPr/>
        <p:nvPr/>
      </p:nvGrpSpPr>
      <p:grpSpPr>
        <a:xfrm>
          <a:off x="0" y="0"/>
          <a:ext cx="0" cy="0"/>
          <a:chOff x="0" y="0"/>
          <a:chExt cx="0" cy="0"/>
        </a:xfrm>
      </p:grpSpPr>
      <p:sp>
        <p:nvSpPr>
          <p:cNvPr id="157" name="Google Shape;157;p8"/>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8"/>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Booked vs. Cancelled Sessions by Search Depth</a:t>
            </a:r>
            <a:endParaRPr b="0" i="0" sz="2200" u="none" cap="none" strike="noStrike">
              <a:solidFill>
                <a:schemeClr val="dk1"/>
              </a:solidFill>
              <a:latin typeface="Calibri"/>
              <a:ea typeface="Calibri"/>
              <a:cs typeface="Calibri"/>
              <a:sym typeface="Calibri"/>
            </a:endParaRPr>
          </a:p>
        </p:txBody>
      </p:sp>
      <p:pic>
        <p:nvPicPr>
          <p:cNvPr descr="preencoded.png" id="161" name="Google Shape;161;p8"/>
          <p:cNvPicPr preferRelativeResize="0"/>
          <p:nvPr/>
        </p:nvPicPr>
        <p:blipFill rotWithShape="1">
          <a:blip r:embed="rId3">
            <a:alphaModFix/>
          </a:blip>
          <a:srcRect b="0" l="0" r="0" t="0"/>
          <a:stretch/>
        </p:blipFill>
        <p:spPr>
          <a:xfrm>
            <a:off x="274325" y="713225"/>
            <a:ext cx="5369725" cy="4114799"/>
          </a:xfrm>
          <a:prstGeom prst="rect">
            <a:avLst/>
          </a:prstGeom>
          <a:noFill/>
          <a:ln>
            <a:noFill/>
          </a:ln>
        </p:spPr>
      </p:pic>
      <p:sp>
        <p:nvSpPr>
          <p:cNvPr id="162" name="Google Shape;162;p8"/>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8"/>
          <p:cNvSpPr/>
          <p:nvPr/>
        </p:nvSpPr>
        <p:spPr>
          <a:xfrm>
            <a:off x="5760720" y="713232"/>
            <a:ext cx="31546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p:nvPr/>
        </p:nvSpPr>
        <p:spPr>
          <a:xfrm>
            <a:off x="5897880" y="868680"/>
            <a:ext cx="54864" cy="8229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6035040" y="86868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Intent-Driven Decisions</a:t>
            </a:r>
            <a:endParaRPr b="0" i="0" sz="1200" u="none" cap="none" strike="noStrike">
              <a:solidFill>
                <a:schemeClr val="dk1"/>
              </a:solidFill>
              <a:latin typeface="Calibri"/>
              <a:ea typeface="Calibri"/>
              <a:cs typeface="Calibri"/>
              <a:sym typeface="Calibri"/>
            </a:endParaRPr>
          </a:p>
        </p:txBody>
      </p:sp>
      <p:sp>
        <p:nvSpPr>
          <p:cNvPr id="166" name="Google Shape;166;p8"/>
          <p:cNvSpPr/>
          <p:nvPr/>
        </p:nvSpPr>
        <p:spPr>
          <a:xfrm>
            <a:off x="6035040" y="123444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Cancellations and bookings are both fueled by deep, highly engaged browsing — not impulsive one-click behaviour.</a:t>
            </a:r>
            <a:endParaRPr b="0" i="0" sz="1050" u="none" cap="none" strike="noStrike">
              <a:solidFill>
                <a:schemeClr val="dk1"/>
              </a:solidFill>
              <a:latin typeface="Calibri"/>
              <a:ea typeface="Calibri"/>
              <a:cs typeface="Calibri"/>
              <a:sym typeface="Calibri"/>
            </a:endParaRPr>
          </a:p>
        </p:txBody>
      </p:sp>
      <p:sp>
        <p:nvSpPr>
          <p:cNvPr id="167" name="Google Shape;167;p8"/>
          <p:cNvSpPr/>
          <p:nvPr/>
        </p:nvSpPr>
        <p:spPr>
          <a:xfrm>
            <a:off x="5897880" y="2148840"/>
            <a:ext cx="54864" cy="82296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p:nvPr/>
        </p:nvSpPr>
        <p:spPr>
          <a:xfrm>
            <a:off x="6035040" y="214884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Research Converts</a:t>
            </a:r>
            <a:endParaRPr b="0" i="0" sz="1200" u="none" cap="none" strike="noStrike">
              <a:solidFill>
                <a:schemeClr val="dk1"/>
              </a:solidFill>
              <a:latin typeface="Calibri"/>
              <a:ea typeface="Calibri"/>
              <a:cs typeface="Calibri"/>
              <a:sym typeface="Calibri"/>
            </a:endParaRPr>
          </a:p>
        </p:txBody>
      </p:sp>
      <p:sp>
        <p:nvSpPr>
          <p:cNvPr id="169" name="Google Shape;169;p8"/>
          <p:cNvSpPr/>
          <p:nvPr/>
        </p:nvSpPr>
        <p:spPr>
          <a:xfrm>
            <a:off x="6035040" y="251460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Users who research deeply are your highest-value intent signals. These sessions must trigger personalized cross-sell overlays.</a:t>
            </a:r>
            <a:endParaRPr b="0" i="0" sz="1050" u="none" cap="none" strike="noStrike">
              <a:solidFill>
                <a:schemeClr val="dk1"/>
              </a:solidFill>
              <a:latin typeface="Calibri"/>
              <a:ea typeface="Calibri"/>
              <a:cs typeface="Calibri"/>
              <a:sym typeface="Calibri"/>
            </a:endParaRPr>
          </a:p>
        </p:txBody>
      </p:sp>
      <p:sp>
        <p:nvSpPr>
          <p:cNvPr id="170" name="Google Shape;170;p8"/>
          <p:cNvSpPr/>
          <p:nvPr/>
        </p:nvSpPr>
        <p:spPr>
          <a:xfrm>
            <a:off x="5897880" y="3429000"/>
            <a:ext cx="54864" cy="82296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6035040" y="342900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Optimize the Window</a:t>
            </a:r>
            <a:endParaRPr b="0" i="0" sz="1200" u="none" cap="none" strike="noStrike">
              <a:solidFill>
                <a:schemeClr val="dk1"/>
              </a:solidFill>
              <a:latin typeface="Calibri"/>
              <a:ea typeface="Calibri"/>
              <a:cs typeface="Calibri"/>
              <a:sym typeface="Calibri"/>
            </a:endParaRPr>
          </a:p>
        </p:txBody>
      </p:sp>
      <p:sp>
        <p:nvSpPr>
          <p:cNvPr id="172" name="Google Shape;172;p8"/>
          <p:cNvSpPr/>
          <p:nvPr/>
        </p:nvSpPr>
        <p:spPr>
          <a:xfrm>
            <a:off x="6035040" y="379476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Intervene during high-click sessions with targeted hotel and activity bundles to capture users when intent is strongest.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177" name="Shape 177"/>
        <p:cNvGrpSpPr/>
        <p:nvPr/>
      </p:nvGrpSpPr>
      <p:grpSpPr>
        <a:xfrm>
          <a:off x="0" y="0"/>
          <a:ext cx="0" cy="0"/>
          <a:chOff x="0" y="0"/>
          <a:chExt cx="0" cy="0"/>
        </a:xfrm>
      </p:grpSpPr>
      <p:sp>
        <p:nvSpPr>
          <p:cNvPr id="178" name="Google Shape;178;p9"/>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9"/>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Sessions, Bookings &amp; Revenue by Hour of Day</a:t>
            </a:r>
            <a:endParaRPr b="0" i="0" sz="2200" u="none" cap="none" strike="noStrike">
              <a:solidFill>
                <a:schemeClr val="dk1"/>
              </a:solidFill>
              <a:latin typeface="Calibri"/>
              <a:ea typeface="Calibri"/>
              <a:cs typeface="Calibri"/>
              <a:sym typeface="Calibri"/>
            </a:endParaRPr>
          </a:p>
        </p:txBody>
      </p:sp>
      <p:pic>
        <p:nvPicPr>
          <p:cNvPr descr="preencoded.png" id="182" name="Google Shape;182;p9"/>
          <p:cNvPicPr preferRelativeResize="0"/>
          <p:nvPr/>
        </p:nvPicPr>
        <p:blipFill rotWithShape="1">
          <a:blip r:embed="rId3">
            <a:alphaModFix/>
          </a:blip>
          <a:srcRect b="0" l="0" r="0" t="0"/>
          <a:stretch/>
        </p:blipFill>
        <p:spPr>
          <a:xfrm>
            <a:off x="96300" y="713225"/>
            <a:ext cx="5554699" cy="4114799"/>
          </a:xfrm>
          <a:prstGeom prst="rect">
            <a:avLst/>
          </a:prstGeom>
          <a:noFill/>
          <a:ln>
            <a:noFill/>
          </a:ln>
        </p:spPr>
      </p:pic>
      <p:sp>
        <p:nvSpPr>
          <p:cNvPr id="183" name="Google Shape;183;p9"/>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5760720" y="713232"/>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9"/>
          <p:cNvSpPr/>
          <p:nvPr/>
        </p:nvSpPr>
        <p:spPr>
          <a:xfrm>
            <a:off x="5897880" y="868680"/>
            <a:ext cx="2834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1100"/>
              <a:buFont typeface="Calibri"/>
              <a:buNone/>
            </a:pPr>
            <a:r>
              <a:rPr b="1" i="0" lang="en-US" sz="1100" u="none" cap="none" strike="noStrike">
                <a:solidFill>
                  <a:srgbClr val="FFD166"/>
                </a:solidFill>
                <a:latin typeface="Calibri"/>
                <a:ea typeface="Calibri"/>
                <a:cs typeface="Calibri"/>
                <a:sym typeface="Calibri"/>
              </a:rPr>
              <a:t>Peak Window</a:t>
            </a:r>
            <a:endParaRPr b="0" i="0" sz="1100" u="none" cap="none" strike="noStrike">
              <a:solidFill>
                <a:schemeClr val="dk1"/>
              </a:solidFill>
              <a:latin typeface="Calibri"/>
              <a:ea typeface="Calibri"/>
              <a:cs typeface="Calibri"/>
              <a:sym typeface="Calibri"/>
            </a:endParaRPr>
          </a:p>
        </p:txBody>
      </p:sp>
      <p:sp>
        <p:nvSpPr>
          <p:cNvPr id="186" name="Google Shape;186;p9"/>
          <p:cNvSpPr/>
          <p:nvPr/>
        </p:nvSpPr>
        <p:spPr>
          <a:xfrm>
            <a:off x="5897880" y="1143000"/>
            <a:ext cx="2834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17:00 – 21:00</a:t>
            </a:r>
            <a:endParaRPr b="0" i="0" sz="3000" u="none" cap="none" strike="noStrike">
              <a:solidFill>
                <a:schemeClr val="dk1"/>
              </a:solidFill>
              <a:latin typeface="Calibri"/>
              <a:ea typeface="Calibri"/>
              <a:cs typeface="Calibri"/>
              <a:sym typeface="Calibri"/>
            </a:endParaRPr>
          </a:p>
        </p:txBody>
      </p:sp>
      <p:sp>
        <p:nvSpPr>
          <p:cNvPr id="187" name="Google Shape;187;p9"/>
          <p:cNvSpPr/>
          <p:nvPr/>
        </p:nvSpPr>
        <p:spPr>
          <a:xfrm>
            <a:off x="6035040" y="1755648"/>
            <a:ext cx="2377440" cy="36576"/>
          </a:xfrm>
          <a:prstGeom prst="rect">
            <a:avLst/>
          </a:prstGeom>
          <a:solidFill>
            <a:srgbClr val="00C9A7">
              <a:alpha val="60000"/>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9"/>
          <p:cNvSpPr/>
          <p:nvPr/>
        </p:nvSpPr>
        <p:spPr>
          <a:xfrm>
            <a:off x="5897880" y="1874520"/>
            <a:ext cx="283464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Sessions, bookings, and revenue move in high synchrony and climb sharply from 5 PM, peaking in the evening window before dropping overnight.</a:t>
            </a:r>
            <a:endParaRPr b="0" i="0" sz="1150" u="none" cap="none" strike="noStrike">
              <a:solidFill>
                <a:schemeClr val="dk1"/>
              </a:solidFill>
              <a:latin typeface="Calibri"/>
              <a:ea typeface="Calibri"/>
              <a:cs typeface="Calibri"/>
              <a:sym typeface="Calibri"/>
            </a:endParaRPr>
          </a:p>
        </p:txBody>
      </p:sp>
      <p:sp>
        <p:nvSpPr>
          <p:cNvPr id="189" name="Google Shape;189;p9"/>
          <p:cNvSpPr/>
          <p:nvPr/>
        </p:nvSpPr>
        <p:spPr>
          <a:xfrm>
            <a:off x="5897880" y="3200400"/>
            <a:ext cx="2834640" cy="36576"/>
          </a:xfrm>
          <a:prstGeom prst="rect">
            <a:avLst/>
          </a:prstGeom>
          <a:solidFill>
            <a:srgbClr val="00C9A7">
              <a:alpha val="50196"/>
            </a:srgbClr>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5897880" y="3310128"/>
            <a:ext cx="2834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100"/>
              <a:buFont typeface="Calibri"/>
              <a:buNone/>
            </a:pPr>
            <a:r>
              <a:rPr b="1" i="0" lang="en-US" sz="1100" u="none" cap="none" strike="noStrike">
                <a:solidFill>
                  <a:srgbClr val="00C9A7"/>
                </a:solidFill>
                <a:latin typeface="Calibri"/>
                <a:ea typeface="Calibri"/>
                <a:cs typeface="Calibri"/>
                <a:sym typeface="Calibri"/>
              </a:rPr>
              <a:t>Marketing Recommendation</a:t>
            </a:r>
            <a:endParaRPr b="0" i="0" sz="1100" u="none" cap="none" strike="noStrike">
              <a:solidFill>
                <a:schemeClr val="dk1"/>
              </a:solidFill>
              <a:latin typeface="Calibri"/>
              <a:ea typeface="Calibri"/>
              <a:cs typeface="Calibri"/>
              <a:sym typeface="Calibri"/>
            </a:endParaRPr>
          </a:p>
        </p:txBody>
      </p:sp>
      <p:sp>
        <p:nvSpPr>
          <p:cNvPr id="191" name="Google Shape;191;p9"/>
          <p:cNvSpPr/>
          <p:nvPr/>
        </p:nvSpPr>
        <p:spPr>
          <a:xfrm>
            <a:off x="5897880" y="3639312"/>
            <a:ext cx="2834640" cy="10058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Schedule all retention campaigns, push notifications, and cross-sell prompts to fire between 17:00 and 21:00 to maximize total revenue impact.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196" name="Shape 196"/>
        <p:cNvGrpSpPr/>
        <p:nvPr/>
      </p:nvGrpSpPr>
      <p:grpSpPr>
        <a:xfrm>
          <a:off x="0" y="0"/>
          <a:ext cx="0" cy="0"/>
          <a:chOff x="0" y="0"/>
          <a:chExt cx="0" cy="0"/>
        </a:xfrm>
      </p:grpSpPr>
      <p:sp>
        <p:nvSpPr>
          <p:cNvPr id="197" name="Google Shape;197;p10"/>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0"/>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0"/>
          <p:cNvSpPr/>
          <p:nvPr/>
        </p:nvSpPr>
        <p:spPr>
          <a:xfrm>
            <a:off x="274320" y="457200"/>
            <a:ext cx="3657600" cy="320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166"/>
              </a:buClr>
              <a:buSzPts val="16000"/>
              <a:buFont typeface="Calibri"/>
              <a:buNone/>
            </a:pPr>
            <a:r>
              <a:rPr b="1" i="0" lang="en-US" sz="16000" u="none" cap="none" strike="noStrike">
                <a:solidFill>
                  <a:srgbClr val="FFD166"/>
                </a:solidFill>
                <a:latin typeface="Calibri"/>
                <a:ea typeface="Calibri"/>
                <a:cs typeface="Calibri"/>
                <a:sym typeface="Calibri"/>
              </a:rPr>
              <a:t>02</a:t>
            </a:r>
            <a:endParaRPr b="0" i="0" sz="16000" u="none" cap="none" strike="noStrike">
              <a:solidFill>
                <a:schemeClr val="dk1"/>
              </a:solidFill>
              <a:latin typeface="Calibri"/>
              <a:ea typeface="Calibri"/>
              <a:cs typeface="Calibri"/>
              <a:sym typeface="Calibri"/>
            </a:endParaRPr>
          </a:p>
        </p:txBody>
      </p:sp>
      <p:sp>
        <p:nvSpPr>
          <p:cNvPr id="200" name="Google Shape;200;p10"/>
          <p:cNvSpPr/>
          <p:nvPr/>
        </p:nvSpPr>
        <p:spPr>
          <a:xfrm>
            <a:off x="411480" y="2194560"/>
            <a:ext cx="73152" cy="137160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0"/>
          <p:cNvSpPr/>
          <p:nvPr/>
        </p:nvSpPr>
        <p:spPr>
          <a:xfrm>
            <a:off x="3214885" y="1513330"/>
            <a:ext cx="7315200" cy="164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User Data</a:t>
            </a:r>
            <a:endParaRPr b="0" i="0" sz="4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Analysis</a:t>
            </a:r>
            <a:endParaRPr b="0" i="0" sz="4000" u="none" cap="none" strike="noStrike">
              <a:solidFill>
                <a:schemeClr val="dk1"/>
              </a:solidFill>
              <a:latin typeface="Calibri"/>
              <a:ea typeface="Calibri"/>
              <a:cs typeface="Calibri"/>
              <a:sym typeface="Calibri"/>
            </a:endParaRPr>
          </a:p>
        </p:txBody>
      </p:sp>
      <p:sp>
        <p:nvSpPr>
          <p:cNvPr id="202" name="Google Shape;202;p10"/>
          <p:cNvSpPr/>
          <p:nvPr/>
        </p:nvSpPr>
        <p:spPr>
          <a:xfrm>
            <a:off x="594360" y="3703320"/>
            <a:ext cx="64008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Understanding who our users are — signup trends, demographics, geography, and age distribution.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207" name="Shape 207"/>
        <p:cNvGrpSpPr/>
        <p:nvPr/>
      </p:nvGrpSpPr>
      <p:grpSpPr>
        <a:xfrm>
          <a:off x="0" y="0"/>
          <a:ext cx="0" cy="0"/>
          <a:chOff x="0" y="0"/>
          <a:chExt cx="0" cy="0"/>
        </a:xfrm>
      </p:grpSpPr>
      <p:sp>
        <p:nvSpPr>
          <p:cNvPr id="208" name="Google Shape;208;p11"/>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1"/>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1"/>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1"/>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User Sign-Up Trends Over Time</a:t>
            </a:r>
            <a:endParaRPr b="0" i="0" sz="2200" u="none" cap="none" strike="noStrike">
              <a:solidFill>
                <a:schemeClr val="dk1"/>
              </a:solidFill>
              <a:latin typeface="Calibri"/>
              <a:ea typeface="Calibri"/>
              <a:cs typeface="Calibri"/>
              <a:sym typeface="Calibri"/>
            </a:endParaRPr>
          </a:p>
        </p:txBody>
      </p:sp>
      <p:pic>
        <p:nvPicPr>
          <p:cNvPr descr="preencoded.png" id="212" name="Google Shape;212;p11"/>
          <p:cNvPicPr preferRelativeResize="0"/>
          <p:nvPr/>
        </p:nvPicPr>
        <p:blipFill rotWithShape="1">
          <a:blip r:embed="rId3">
            <a:alphaModFix/>
          </a:blip>
          <a:srcRect b="0" l="0" r="0" t="0"/>
          <a:stretch/>
        </p:blipFill>
        <p:spPr>
          <a:xfrm>
            <a:off x="274320" y="713232"/>
            <a:ext cx="5303520" cy="4114800"/>
          </a:xfrm>
          <a:prstGeom prst="rect">
            <a:avLst/>
          </a:prstGeom>
          <a:noFill/>
          <a:ln>
            <a:noFill/>
          </a:ln>
        </p:spPr>
      </p:pic>
      <p:sp>
        <p:nvSpPr>
          <p:cNvPr id="213" name="Google Shape;213;p11"/>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1"/>
          <p:cNvSpPr/>
          <p:nvPr/>
        </p:nvSpPr>
        <p:spPr>
          <a:xfrm>
            <a:off x="5760720" y="713232"/>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1"/>
          <p:cNvSpPr/>
          <p:nvPr/>
        </p:nvSpPr>
        <p:spPr>
          <a:xfrm>
            <a:off x="5852160" y="868680"/>
            <a:ext cx="292608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D166"/>
              </a:buClr>
              <a:buSzPts val="3400"/>
              <a:buFont typeface="Calibri"/>
              <a:buNone/>
            </a:pPr>
            <a:r>
              <a:rPr b="1" i="0" lang="en-US" sz="3400" u="none" cap="none" strike="noStrike">
                <a:solidFill>
                  <a:srgbClr val="FFD166"/>
                </a:solidFill>
                <a:latin typeface="Calibri"/>
                <a:ea typeface="Calibri"/>
                <a:cs typeface="Calibri"/>
                <a:sym typeface="Calibri"/>
              </a:rPr>
              <a:t>~3,500</a:t>
            </a:r>
            <a:endParaRPr b="0" i="0" sz="3400" u="none" cap="none" strike="noStrike">
              <a:solidFill>
                <a:schemeClr val="dk1"/>
              </a:solidFill>
              <a:latin typeface="Calibri"/>
              <a:ea typeface="Calibri"/>
              <a:cs typeface="Calibri"/>
              <a:sym typeface="Calibri"/>
            </a:endParaRPr>
          </a:p>
        </p:txBody>
      </p:sp>
      <p:sp>
        <p:nvSpPr>
          <p:cNvPr id="216" name="Google Shape;216;p11"/>
          <p:cNvSpPr/>
          <p:nvPr/>
        </p:nvSpPr>
        <p:spPr>
          <a:xfrm>
            <a:off x="5852160" y="1417320"/>
            <a:ext cx="29260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new users in January 2023 spike</a:t>
            </a:r>
            <a:endParaRPr b="0" i="0" sz="1100" u="none" cap="none" strike="noStrike">
              <a:solidFill>
                <a:schemeClr val="dk1"/>
              </a:solidFill>
              <a:latin typeface="Calibri"/>
              <a:ea typeface="Calibri"/>
              <a:cs typeface="Calibri"/>
              <a:sym typeface="Calibri"/>
            </a:endParaRPr>
          </a:p>
        </p:txBody>
      </p:sp>
      <p:sp>
        <p:nvSpPr>
          <p:cNvPr id="217" name="Google Shape;217;p11"/>
          <p:cNvSpPr/>
          <p:nvPr/>
        </p:nvSpPr>
        <p:spPr>
          <a:xfrm>
            <a:off x="6035040" y="1874520"/>
            <a:ext cx="2377440" cy="36576"/>
          </a:xfrm>
          <a:prstGeom prst="rect">
            <a:avLst/>
          </a:prstGeom>
          <a:solidFill>
            <a:srgbClr val="FFD166">
              <a:alpha val="60000"/>
            </a:srgbClr>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1"/>
          <p:cNvSpPr/>
          <p:nvPr/>
        </p:nvSpPr>
        <p:spPr>
          <a:xfrm>
            <a:off x="5897880" y="2011680"/>
            <a:ext cx="283464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A dramatic spike in January 2023 — reaching nearly 3,500 new users — sandwiched between near-zero activity from late 2021 through mid-2022.</a:t>
            </a:r>
            <a:endParaRPr b="0" i="0" sz="1150" u="none" cap="none" strike="noStrike">
              <a:solidFill>
                <a:schemeClr val="dk1"/>
              </a:solidFill>
              <a:latin typeface="Calibri"/>
              <a:ea typeface="Calibri"/>
              <a:cs typeface="Calibri"/>
              <a:sym typeface="Calibri"/>
            </a:endParaRPr>
          </a:p>
        </p:txBody>
      </p:sp>
      <p:sp>
        <p:nvSpPr>
          <p:cNvPr id="219" name="Google Shape;219;p11"/>
          <p:cNvSpPr/>
          <p:nvPr/>
        </p:nvSpPr>
        <p:spPr>
          <a:xfrm>
            <a:off x="5897880" y="3291840"/>
            <a:ext cx="2834640" cy="10058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C9A7"/>
              </a:buClr>
              <a:buSzPts val="1100"/>
              <a:buFont typeface="Calibri"/>
              <a:buNone/>
            </a:pPr>
            <a:r>
              <a:rPr b="0" i="1" lang="en-US" sz="1100" u="none" cap="none" strike="noStrike">
                <a:solidFill>
                  <a:srgbClr val="00C9A7"/>
                </a:solidFill>
                <a:latin typeface="Calibri"/>
                <a:ea typeface="Calibri"/>
                <a:cs typeface="Calibri"/>
                <a:sym typeface="Calibri"/>
              </a:rPr>
              <a:t>This cohort, triggered by our Winter Sale Campaign, is our most strategically important user group for re-engagement.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224" name="Shape 224"/>
        <p:cNvGrpSpPr/>
        <p:nvPr/>
      </p:nvGrpSpPr>
      <p:grpSpPr>
        <a:xfrm>
          <a:off x="0" y="0"/>
          <a:ext cx="0" cy="0"/>
          <a:chOff x="0" y="0"/>
          <a:chExt cx="0" cy="0"/>
        </a:xfrm>
      </p:grpSpPr>
      <p:sp>
        <p:nvSpPr>
          <p:cNvPr id="225" name="Google Shape;225;p12"/>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2"/>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2"/>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Analysing the January 2023 Cohort</a:t>
            </a:r>
            <a:endParaRPr b="0" i="0" sz="2200" u="none" cap="none" strike="noStrike">
              <a:solidFill>
                <a:schemeClr val="dk1"/>
              </a:solidFill>
              <a:latin typeface="Calibri"/>
              <a:ea typeface="Calibri"/>
              <a:cs typeface="Calibri"/>
              <a:sym typeface="Calibri"/>
            </a:endParaRPr>
          </a:p>
        </p:txBody>
      </p:sp>
      <p:pic>
        <p:nvPicPr>
          <p:cNvPr descr="preencoded.png" id="229" name="Google Shape;229;p12"/>
          <p:cNvPicPr preferRelativeResize="0"/>
          <p:nvPr/>
        </p:nvPicPr>
        <p:blipFill rotWithShape="1">
          <a:blip r:embed="rId3">
            <a:alphaModFix/>
          </a:blip>
          <a:srcRect b="0" l="0" r="0" t="0"/>
          <a:stretch/>
        </p:blipFill>
        <p:spPr>
          <a:xfrm>
            <a:off x="274320" y="713232"/>
            <a:ext cx="5303520" cy="4114800"/>
          </a:xfrm>
          <a:prstGeom prst="rect">
            <a:avLst/>
          </a:prstGeom>
          <a:noFill/>
          <a:ln>
            <a:noFill/>
          </a:ln>
        </p:spPr>
      </p:pic>
      <p:sp>
        <p:nvSpPr>
          <p:cNvPr id="230" name="Google Shape;230;p12"/>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2"/>
          <p:cNvSpPr/>
          <p:nvPr/>
        </p:nvSpPr>
        <p:spPr>
          <a:xfrm>
            <a:off x="5760720" y="713232"/>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a:off x="5897880" y="868680"/>
            <a:ext cx="54864" cy="82296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2"/>
          <p:cNvSpPr/>
          <p:nvPr/>
        </p:nvSpPr>
        <p:spPr>
          <a:xfrm>
            <a:off x="6035040" y="86868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Winter Sale Trigger</a:t>
            </a:r>
            <a:endParaRPr b="0" i="0" sz="1200" u="none" cap="none" strike="noStrike">
              <a:solidFill>
                <a:schemeClr val="dk1"/>
              </a:solidFill>
              <a:latin typeface="Calibri"/>
              <a:ea typeface="Calibri"/>
              <a:cs typeface="Calibri"/>
              <a:sym typeface="Calibri"/>
            </a:endParaRPr>
          </a:p>
        </p:txBody>
      </p:sp>
      <p:sp>
        <p:nvSpPr>
          <p:cNvPr id="234" name="Google Shape;234;p12"/>
          <p:cNvSpPr/>
          <p:nvPr/>
        </p:nvSpPr>
        <p:spPr>
          <a:xfrm>
            <a:off x="6035040" y="123444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Growth was directly triggered by our Winter Sale Campaign (Jan 10) and surrounding holiday travel intent.</a:t>
            </a:r>
            <a:endParaRPr b="0" i="0" sz="1050" u="none" cap="none" strike="noStrike">
              <a:solidFill>
                <a:schemeClr val="dk1"/>
              </a:solidFill>
              <a:latin typeface="Calibri"/>
              <a:ea typeface="Calibri"/>
              <a:cs typeface="Calibri"/>
              <a:sym typeface="Calibri"/>
            </a:endParaRPr>
          </a:p>
        </p:txBody>
      </p:sp>
      <p:sp>
        <p:nvSpPr>
          <p:cNvPr id="235" name="Google Shape;235;p12"/>
          <p:cNvSpPr/>
          <p:nvPr/>
        </p:nvSpPr>
        <p:spPr>
          <a:xfrm>
            <a:off x="5897880" y="2148840"/>
            <a:ext cx="54864" cy="8229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2"/>
          <p:cNvSpPr/>
          <p:nvPr/>
        </p:nvSpPr>
        <p:spPr>
          <a:xfrm>
            <a:off x="6035040" y="214884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Peak Impact</a:t>
            </a:r>
            <a:endParaRPr b="0" i="0" sz="1200" u="none" cap="none" strike="noStrike">
              <a:solidFill>
                <a:schemeClr val="dk1"/>
              </a:solidFill>
              <a:latin typeface="Calibri"/>
              <a:ea typeface="Calibri"/>
              <a:cs typeface="Calibri"/>
              <a:sym typeface="Calibri"/>
            </a:endParaRPr>
          </a:p>
        </p:txBody>
      </p:sp>
      <p:sp>
        <p:nvSpPr>
          <p:cNvPr id="237" name="Google Shape;237;p12"/>
          <p:cNvSpPr/>
          <p:nvPr/>
        </p:nvSpPr>
        <p:spPr>
          <a:xfrm>
            <a:off x="6035040" y="251460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Daily sign-ups spiked from ~20 to 180 per day during the campaign window.</a:t>
            </a:r>
            <a:endParaRPr b="0" i="0" sz="1050" u="none" cap="none" strike="noStrike">
              <a:solidFill>
                <a:schemeClr val="dk1"/>
              </a:solidFill>
              <a:latin typeface="Calibri"/>
              <a:ea typeface="Calibri"/>
              <a:cs typeface="Calibri"/>
              <a:sym typeface="Calibri"/>
            </a:endParaRPr>
          </a:p>
        </p:txBody>
      </p:sp>
      <p:sp>
        <p:nvSpPr>
          <p:cNvPr id="238" name="Google Shape;238;p12"/>
          <p:cNvSpPr/>
          <p:nvPr/>
        </p:nvSpPr>
        <p:spPr>
          <a:xfrm>
            <a:off x="5897880" y="3429000"/>
            <a:ext cx="54864" cy="82296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a:off x="6035040" y="3429000"/>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Strategic Priority</a:t>
            </a:r>
            <a:endParaRPr b="0" i="0" sz="1200" u="none" cap="none" strike="noStrike">
              <a:solidFill>
                <a:schemeClr val="dk1"/>
              </a:solidFill>
              <a:latin typeface="Calibri"/>
              <a:ea typeface="Calibri"/>
              <a:cs typeface="Calibri"/>
              <a:sym typeface="Calibri"/>
            </a:endParaRPr>
          </a:p>
        </p:txBody>
      </p:sp>
      <p:sp>
        <p:nvSpPr>
          <p:cNvPr id="240" name="Google Shape;240;p12"/>
          <p:cNvSpPr/>
          <p:nvPr/>
        </p:nvSpPr>
        <p:spPr>
          <a:xfrm>
            <a:off x="6035040" y="3794760"/>
            <a:ext cx="27432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50"/>
              <a:buFont typeface="Calibri"/>
              <a:buNone/>
            </a:pPr>
            <a:r>
              <a:rPr b="0" i="0" lang="en-US" sz="1050" u="none" cap="none" strike="noStrike">
                <a:solidFill>
                  <a:srgbClr val="B8C6E0"/>
                </a:solidFill>
                <a:latin typeface="Calibri"/>
                <a:ea typeface="Calibri"/>
                <a:cs typeface="Calibri"/>
                <a:sym typeface="Calibri"/>
              </a:rPr>
              <a:t>Leverage this cohort for targeted cross-sell and retention campaigns before long-term churn accelerates.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245" name="Shape 245"/>
        <p:cNvGrpSpPr/>
        <p:nvPr/>
      </p:nvGrpSpPr>
      <p:grpSpPr>
        <a:xfrm>
          <a:off x="0" y="0"/>
          <a:ext cx="0" cy="0"/>
          <a:chOff x="0" y="0"/>
          <a:chExt cx="0" cy="0"/>
        </a:xfrm>
      </p:grpSpPr>
      <p:sp>
        <p:nvSpPr>
          <p:cNvPr id="246" name="Google Shape;246;p13"/>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3"/>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3"/>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3"/>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User Base: Family &amp; Marital Structure</a:t>
            </a:r>
            <a:endParaRPr b="0" i="0" sz="2200" u="none" cap="none" strike="noStrike">
              <a:solidFill>
                <a:schemeClr val="dk1"/>
              </a:solidFill>
              <a:latin typeface="Calibri"/>
              <a:ea typeface="Calibri"/>
              <a:cs typeface="Calibri"/>
              <a:sym typeface="Calibri"/>
            </a:endParaRPr>
          </a:p>
        </p:txBody>
      </p:sp>
      <p:pic>
        <p:nvPicPr>
          <p:cNvPr descr="preencoded.png" id="250" name="Google Shape;250;p13"/>
          <p:cNvPicPr preferRelativeResize="0"/>
          <p:nvPr/>
        </p:nvPicPr>
        <p:blipFill rotWithShape="1">
          <a:blip r:embed="rId3">
            <a:alphaModFix/>
          </a:blip>
          <a:srcRect b="0" l="0" r="0" t="0"/>
          <a:stretch/>
        </p:blipFill>
        <p:spPr>
          <a:xfrm>
            <a:off x="124200" y="713225"/>
            <a:ext cx="5270749" cy="4114800"/>
          </a:xfrm>
          <a:prstGeom prst="rect">
            <a:avLst/>
          </a:prstGeom>
          <a:noFill/>
          <a:ln>
            <a:noFill/>
          </a:ln>
        </p:spPr>
      </p:pic>
      <p:sp>
        <p:nvSpPr>
          <p:cNvPr id="251" name="Google Shape;251;p13"/>
          <p:cNvSpPr/>
          <p:nvPr/>
        </p:nvSpPr>
        <p:spPr>
          <a:xfrm>
            <a:off x="5532120" y="713232"/>
            <a:ext cx="1508760" cy="1417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3"/>
          <p:cNvSpPr/>
          <p:nvPr/>
        </p:nvSpPr>
        <p:spPr>
          <a:xfrm>
            <a:off x="5532120" y="713232"/>
            <a:ext cx="150876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3"/>
          <p:cNvSpPr/>
          <p:nvPr/>
        </p:nvSpPr>
        <p:spPr>
          <a:xfrm>
            <a:off x="5532120" y="850392"/>
            <a:ext cx="1508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3200"/>
              <a:buFont typeface="Calibri"/>
              <a:buNone/>
            </a:pPr>
            <a:r>
              <a:rPr b="1" i="0" lang="en-US" sz="3200" u="none" cap="none" strike="noStrike">
                <a:solidFill>
                  <a:srgbClr val="00C9A7"/>
                </a:solidFill>
                <a:latin typeface="Calibri"/>
                <a:ea typeface="Calibri"/>
                <a:cs typeface="Calibri"/>
                <a:sym typeface="Calibri"/>
              </a:rPr>
              <a:t>67%</a:t>
            </a:r>
            <a:endParaRPr b="0" i="0" sz="3200" u="none" cap="none" strike="noStrike">
              <a:solidFill>
                <a:schemeClr val="dk1"/>
              </a:solidFill>
              <a:latin typeface="Calibri"/>
              <a:ea typeface="Calibri"/>
              <a:cs typeface="Calibri"/>
              <a:sym typeface="Calibri"/>
            </a:endParaRPr>
          </a:p>
        </p:txBody>
      </p:sp>
      <p:sp>
        <p:nvSpPr>
          <p:cNvPr id="254" name="Google Shape;254;p13"/>
          <p:cNvSpPr/>
          <p:nvPr/>
        </p:nvSpPr>
        <p:spPr>
          <a:xfrm>
            <a:off x="5532120" y="1463040"/>
            <a:ext cx="1508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no children</a:t>
            </a:r>
            <a:endParaRPr b="0" i="0" sz="1100" u="none" cap="none" strike="noStrike">
              <a:solidFill>
                <a:schemeClr val="dk1"/>
              </a:solidFill>
              <a:latin typeface="Calibri"/>
              <a:ea typeface="Calibri"/>
              <a:cs typeface="Calibri"/>
              <a:sym typeface="Calibri"/>
            </a:endParaRPr>
          </a:p>
        </p:txBody>
      </p:sp>
      <p:sp>
        <p:nvSpPr>
          <p:cNvPr id="255" name="Google Shape;255;p13"/>
          <p:cNvSpPr/>
          <p:nvPr/>
        </p:nvSpPr>
        <p:spPr>
          <a:xfrm>
            <a:off x="7178040" y="713232"/>
            <a:ext cx="1508760" cy="1417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3"/>
          <p:cNvSpPr/>
          <p:nvPr/>
        </p:nvSpPr>
        <p:spPr>
          <a:xfrm>
            <a:off x="7178040" y="713232"/>
            <a:ext cx="150876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3"/>
          <p:cNvSpPr/>
          <p:nvPr/>
        </p:nvSpPr>
        <p:spPr>
          <a:xfrm>
            <a:off x="7178040" y="850392"/>
            <a:ext cx="1508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D166"/>
              </a:buClr>
              <a:buSzPts val="3200"/>
              <a:buFont typeface="Calibri"/>
              <a:buNone/>
            </a:pPr>
            <a:r>
              <a:rPr b="1" i="0" lang="en-US" sz="3200" u="none" cap="none" strike="noStrike">
                <a:solidFill>
                  <a:srgbClr val="FFD166"/>
                </a:solidFill>
                <a:latin typeface="Calibri"/>
                <a:ea typeface="Calibri"/>
                <a:cs typeface="Calibri"/>
                <a:sym typeface="Calibri"/>
              </a:rPr>
              <a:t>33%</a:t>
            </a:r>
            <a:endParaRPr b="0" i="0" sz="3200" u="none" cap="none" strike="noStrike">
              <a:solidFill>
                <a:schemeClr val="dk1"/>
              </a:solidFill>
              <a:latin typeface="Calibri"/>
              <a:ea typeface="Calibri"/>
              <a:cs typeface="Calibri"/>
              <a:sym typeface="Calibri"/>
            </a:endParaRPr>
          </a:p>
        </p:txBody>
      </p:sp>
      <p:sp>
        <p:nvSpPr>
          <p:cNvPr id="258" name="Google Shape;258;p13"/>
          <p:cNvSpPr/>
          <p:nvPr/>
        </p:nvSpPr>
        <p:spPr>
          <a:xfrm>
            <a:off x="7178040" y="1463040"/>
            <a:ext cx="15087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with children</a:t>
            </a:r>
            <a:endParaRPr b="0" i="0" sz="1100" u="none" cap="none" strike="noStrike">
              <a:solidFill>
                <a:schemeClr val="dk1"/>
              </a:solidFill>
              <a:latin typeface="Calibri"/>
              <a:ea typeface="Calibri"/>
              <a:cs typeface="Calibri"/>
              <a:sym typeface="Calibri"/>
            </a:endParaRPr>
          </a:p>
        </p:txBody>
      </p:sp>
      <p:sp>
        <p:nvSpPr>
          <p:cNvPr id="259" name="Google Shape;259;p13"/>
          <p:cNvSpPr/>
          <p:nvPr/>
        </p:nvSpPr>
        <p:spPr>
          <a:xfrm>
            <a:off x="5532120" y="2267712"/>
            <a:ext cx="3154680" cy="256032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3"/>
          <p:cNvSpPr/>
          <p:nvPr/>
        </p:nvSpPr>
        <p:spPr>
          <a:xfrm>
            <a:off x="5532120" y="2267712"/>
            <a:ext cx="31546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3"/>
          <p:cNvSpPr/>
          <p:nvPr/>
        </p:nvSpPr>
        <p:spPr>
          <a:xfrm>
            <a:off x="5669280" y="2395728"/>
            <a:ext cx="2834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Platform Profile</a:t>
            </a:r>
            <a:endParaRPr b="0" i="0" sz="1200" u="none" cap="none" strike="noStrike">
              <a:solidFill>
                <a:schemeClr val="dk1"/>
              </a:solidFill>
              <a:latin typeface="Calibri"/>
              <a:ea typeface="Calibri"/>
              <a:cs typeface="Calibri"/>
              <a:sym typeface="Calibri"/>
            </a:endParaRPr>
          </a:p>
        </p:txBody>
      </p:sp>
      <p:sp>
        <p:nvSpPr>
          <p:cNvPr id="262" name="Google Shape;262;p13"/>
          <p:cNvSpPr/>
          <p:nvPr/>
        </p:nvSpPr>
        <p:spPr>
          <a:xfrm>
            <a:off x="5669280" y="2816352"/>
            <a:ext cx="2834640" cy="18288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Our platform is heavily favored by independent travelers, couples, and young professionals rather than family planners.</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This means current product features, pricing, and marketing channels are optimized for solo/couple travel — a strength to double down 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267" name="Shape 267"/>
        <p:cNvGrpSpPr/>
        <p:nvPr/>
      </p:nvGrpSpPr>
      <p:grpSpPr>
        <a:xfrm>
          <a:off x="0" y="0"/>
          <a:ext cx="0" cy="0"/>
          <a:chOff x="0" y="0"/>
          <a:chExt cx="0" cy="0"/>
        </a:xfrm>
      </p:grpSpPr>
      <p:sp>
        <p:nvSpPr>
          <p:cNvPr id="268" name="Google Shape;268;p14"/>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4"/>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4"/>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4"/>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Top Home Airports by User Count</a:t>
            </a:r>
            <a:endParaRPr b="0" i="0" sz="2200" u="none" cap="none" strike="noStrike">
              <a:solidFill>
                <a:schemeClr val="dk1"/>
              </a:solidFill>
              <a:latin typeface="Calibri"/>
              <a:ea typeface="Calibri"/>
              <a:cs typeface="Calibri"/>
              <a:sym typeface="Calibri"/>
            </a:endParaRPr>
          </a:p>
        </p:txBody>
      </p:sp>
      <p:pic>
        <p:nvPicPr>
          <p:cNvPr descr="preencoded.png" id="272" name="Google Shape;272;p14"/>
          <p:cNvPicPr preferRelativeResize="0"/>
          <p:nvPr/>
        </p:nvPicPr>
        <p:blipFill rotWithShape="1">
          <a:blip r:embed="rId3">
            <a:alphaModFix/>
          </a:blip>
          <a:srcRect b="0" l="0" r="0" t="0"/>
          <a:stretch/>
        </p:blipFill>
        <p:spPr>
          <a:xfrm>
            <a:off x="96300" y="713225"/>
            <a:ext cx="5561675" cy="4114801"/>
          </a:xfrm>
          <a:prstGeom prst="rect">
            <a:avLst/>
          </a:prstGeom>
          <a:noFill/>
          <a:ln>
            <a:noFill/>
          </a:ln>
        </p:spPr>
      </p:pic>
      <p:sp>
        <p:nvSpPr>
          <p:cNvPr id="273" name="Google Shape;273;p14"/>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4"/>
          <p:cNvSpPr/>
          <p:nvPr/>
        </p:nvSpPr>
        <p:spPr>
          <a:xfrm>
            <a:off x="5760720" y="713232"/>
            <a:ext cx="31546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4"/>
          <p:cNvSpPr/>
          <p:nvPr/>
        </p:nvSpPr>
        <p:spPr>
          <a:xfrm>
            <a:off x="5897880" y="868680"/>
            <a:ext cx="2834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100"/>
              <a:buFont typeface="Calibri"/>
              <a:buNone/>
            </a:pPr>
            <a:r>
              <a:rPr b="1" i="0" lang="en-US" sz="1100" u="none" cap="none" strike="noStrike">
                <a:solidFill>
                  <a:srgbClr val="00C9A7"/>
                </a:solidFill>
                <a:latin typeface="Calibri"/>
                <a:ea typeface="Calibri"/>
                <a:cs typeface="Calibri"/>
                <a:sym typeface="Calibri"/>
              </a:rPr>
              <a:t>Geo-Targeting Priority</a:t>
            </a:r>
            <a:endParaRPr b="0" i="0" sz="1100" u="none" cap="none" strike="noStrike">
              <a:solidFill>
                <a:schemeClr val="dk1"/>
              </a:solidFill>
              <a:latin typeface="Calibri"/>
              <a:ea typeface="Calibri"/>
              <a:cs typeface="Calibri"/>
              <a:sym typeface="Calibri"/>
            </a:endParaRPr>
          </a:p>
        </p:txBody>
      </p:sp>
      <p:sp>
        <p:nvSpPr>
          <p:cNvPr id="276" name="Google Shape;276;p14"/>
          <p:cNvSpPr/>
          <p:nvPr/>
        </p:nvSpPr>
        <p:spPr>
          <a:xfrm>
            <a:off x="5897880" y="1280160"/>
            <a:ext cx="502920" cy="50292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4"/>
          <p:cNvSpPr/>
          <p:nvPr/>
        </p:nvSpPr>
        <p:spPr>
          <a:xfrm>
            <a:off x="5897880" y="128016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300"/>
              <a:buFont typeface="Calibri"/>
              <a:buNone/>
            </a:pPr>
            <a:r>
              <a:rPr b="1" i="0" lang="en-US" sz="1300" u="none" cap="none" strike="noStrike">
                <a:solidFill>
                  <a:srgbClr val="0B1B3E"/>
                </a:solidFill>
                <a:latin typeface="Calibri"/>
                <a:ea typeface="Calibri"/>
                <a:cs typeface="Calibri"/>
                <a:sym typeface="Calibri"/>
              </a:rPr>
              <a:t>LGA</a:t>
            </a:r>
            <a:endParaRPr b="0" i="0" sz="1300" u="none" cap="none" strike="noStrike">
              <a:solidFill>
                <a:schemeClr val="dk1"/>
              </a:solidFill>
              <a:latin typeface="Calibri"/>
              <a:ea typeface="Calibri"/>
              <a:cs typeface="Calibri"/>
              <a:sym typeface="Calibri"/>
            </a:endParaRPr>
          </a:p>
        </p:txBody>
      </p:sp>
      <p:sp>
        <p:nvSpPr>
          <p:cNvPr id="278" name="Google Shape;278;p14"/>
          <p:cNvSpPr/>
          <p:nvPr/>
        </p:nvSpPr>
        <p:spPr>
          <a:xfrm>
            <a:off x="6492240" y="1353312"/>
            <a:ext cx="22860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LaGuardia, New York</a:t>
            </a:r>
            <a:endParaRPr b="0" i="0" sz="1200" u="none" cap="none" strike="noStrike">
              <a:solidFill>
                <a:schemeClr val="dk1"/>
              </a:solidFill>
              <a:latin typeface="Calibri"/>
              <a:ea typeface="Calibri"/>
              <a:cs typeface="Calibri"/>
              <a:sym typeface="Calibri"/>
            </a:endParaRPr>
          </a:p>
        </p:txBody>
      </p:sp>
      <p:sp>
        <p:nvSpPr>
          <p:cNvPr id="279" name="Google Shape;279;p14"/>
          <p:cNvSpPr/>
          <p:nvPr/>
        </p:nvSpPr>
        <p:spPr>
          <a:xfrm>
            <a:off x="5897880" y="2194560"/>
            <a:ext cx="502920" cy="50292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4"/>
          <p:cNvSpPr/>
          <p:nvPr/>
        </p:nvSpPr>
        <p:spPr>
          <a:xfrm>
            <a:off x="5897880" y="219456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300"/>
              <a:buFont typeface="Calibri"/>
              <a:buNone/>
            </a:pPr>
            <a:r>
              <a:rPr b="1" i="0" lang="en-US" sz="1300" u="none" cap="none" strike="noStrike">
                <a:solidFill>
                  <a:srgbClr val="0B1B3E"/>
                </a:solidFill>
                <a:latin typeface="Calibri"/>
                <a:ea typeface="Calibri"/>
                <a:cs typeface="Calibri"/>
                <a:sym typeface="Calibri"/>
              </a:rPr>
              <a:t>JFK</a:t>
            </a:r>
            <a:endParaRPr b="0" i="0" sz="1300" u="none" cap="none" strike="noStrike">
              <a:solidFill>
                <a:schemeClr val="dk1"/>
              </a:solidFill>
              <a:latin typeface="Calibri"/>
              <a:ea typeface="Calibri"/>
              <a:cs typeface="Calibri"/>
              <a:sym typeface="Calibri"/>
            </a:endParaRPr>
          </a:p>
        </p:txBody>
      </p:sp>
      <p:sp>
        <p:nvSpPr>
          <p:cNvPr id="281" name="Google Shape;281;p14"/>
          <p:cNvSpPr/>
          <p:nvPr/>
        </p:nvSpPr>
        <p:spPr>
          <a:xfrm>
            <a:off x="6492240" y="2267712"/>
            <a:ext cx="22860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JFK, New York</a:t>
            </a:r>
            <a:endParaRPr b="0" i="0" sz="1200" u="none" cap="none" strike="noStrike">
              <a:solidFill>
                <a:schemeClr val="dk1"/>
              </a:solidFill>
              <a:latin typeface="Calibri"/>
              <a:ea typeface="Calibri"/>
              <a:cs typeface="Calibri"/>
              <a:sym typeface="Calibri"/>
            </a:endParaRPr>
          </a:p>
        </p:txBody>
      </p:sp>
      <p:sp>
        <p:nvSpPr>
          <p:cNvPr id="282" name="Google Shape;282;p14"/>
          <p:cNvSpPr/>
          <p:nvPr/>
        </p:nvSpPr>
        <p:spPr>
          <a:xfrm>
            <a:off x="5897880" y="3108960"/>
            <a:ext cx="502920" cy="50292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4"/>
          <p:cNvSpPr/>
          <p:nvPr/>
        </p:nvSpPr>
        <p:spPr>
          <a:xfrm>
            <a:off x="5897880" y="3108960"/>
            <a:ext cx="50292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300"/>
              <a:buFont typeface="Calibri"/>
              <a:buNone/>
            </a:pPr>
            <a:r>
              <a:rPr b="1" i="0" lang="en-US" sz="1300" u="none" cap="none" strike="noStrike">
                <a:solidFill>
                  <a:srgbClr val="0B1B3E"/>
                </a:solidFill>
                <a:latin typeface="Calibri"/>
                <a:ea typeface="Calibri"/>
                <a:cs typeface="Calibri"/>
                <a:sym typeface="Calibri"/>
              </a:rPr>
              <a:t>LAX</a:t>
            </a:r>
            <a:endParaRPr b="0" i="0" sz="1300" u="none" cap="none" strike="noStrike">
              <a:solidFill>
                <a:schemeClr val="dk1"/>
              </a:solidFill>
              <a:latin typeface="Calibri"/>
              <a:ea typeface="Calibri"/>
              <a:cs typeface="Calibri"/>
              <a:sym typeface="Calibri"/>
            </a:endParaRPr>
          </a:p>
        </p:txBody>
      </p:sp>
      <p:sp>
        <p:nvSpPr>
          <p:cNvPr id="284" name="Google Shape;284;p14"/>
          <p:cNvSpPr/>
          <p:nvPr/>
        </p:nvSpPr>
        <p:spPr>
          <a:xfrm>
            <a:off x="6492240" y="3182112"/>
            <a:ext cx="22860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Los Angeles</a:t>
            </a:r>
            <a:endParaRPr b="0" i="0" sz="1200" u="none" cap="none" strike="noStrike">
              <a:solidFill>
                <a:schemeClr val="dk1"/>
              </a:solidFill>
              <a:latin typeface="Calibri"/>
              <a:ea typeface="Calibri"/>
              <a:cs typeface="Calibri"/>
              <a:sym typeface="Calibri"/>
            </a:endParaRPr>
          </a:p>
        </p:txBody>
      </p:sp>
      <p:sp>
        <p:nvSpPr>
          <p:cNvPr id="285" name="Google Shape;285;p14"/>
          <p:cNvSpPr/>
          <p:nvPr/>
        </p:nvSpPr>
        <p:spPr>
          <a:xfrm>
            <a:off x="5897880" y="4114800"/>
            <a:ext cx="2834640" cy="36576"/>
          </a:xfrm>
          <a:prstGeom prst="rect">
            <a:avLst/>
          </a:prstGeom>
          <a:solidFill>
            <a:srgbClr val="FFD166">
              <a:alpha val="60000"/>
            </a:srgbClr>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4"/>
          <p:cNvSpPr/>
          <p:nvPr/>
        </p:nvSpPr>
        <p:spPr>
          <a:xfrm>
            <a:off x="5897880" y="4206240"/>
            <a:ext cx="28346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50"/>
              <a:buFont typeface="Calibri"/>
              <a:buNone/>
            </a:pPr>
            <a:r>
              <a:rPr b="0" i="1" lang="en-US" sz="1050" u="none" cap="none" strike="noStrike">
                <a:solidFill>
                  <a:srgbClr val="B8C6E0"/>
                </a:solidFill>
                <a:latin typeface="Calibri"/>
                <a:ea typeface="Calibri"/>
                <a:cs typeface="Calibri"/>
                <a:sym typeface="Calibri"/>
              </a:rPr>
              <a:t>Hyper-localize digital campaigns to these three hubs to maximize Return on Ad Spend (ROAS).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291" name="Shape 291"/>
        <p:cNvGrpSpPr/>
        <p:nvPr/>
      </p:nvGrpSpPr>
      <p:grpSpPr>
        <a:xfrm>
          <a:off x="0" y="0"/>
          <a:ext cx="0" cy="0"/>
          <a:chOff x="0" y="0"/>
          <a:chExt cx="0" cy="0"/>
        </a:xfrm>
      </p:grpSpPr>
      <p:sp>
        <p:nvSpPr>
          <p:cNvPr id="292" name="Google Shape;292;p15"/>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5"/>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5"/>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5"/>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Age-Concentrated Distribution of Users</a:t>
            </a:r>
            <a:endParaRPr b="0" i="0" sz="2200" u="none" cap="none" strike="noStrike">
              <a:solidFill>
                <a:schemeClr val="dk1"/>
              </a:solidFill>
              <a:latin typeface="Calibri"/>
              <a:ea typeface="Calibri"/>
              <a:cs typeface="Calibri"/>
              <a:sym typeface="Calibri"/>
            </a:endParaRPr>
          </a:p>
        </p:txBody>
      </p:sp>
      <p:pic>
        <p:nvPicPr>
          <p:cNvPr descr="preencoded.png" id="296" name="Google Shape;296;p15"/>
          <p:cNvPicPr preferRelativeResize="0"/>
          <p:nvPr/>
        </p:nvPicPr>
        <p:blipFill rotWithShape="1">
          <a:blip r:embed="rId3">
            <a:alphaModFix/>
          </a:blip>
          <a:srcRect b="0" l="0" r="0" t="0"/>
          <a:stretch/>
        </p:blipFill>
        <p:spPr>
          <a:xfrm>
            <a:off x="103275" y="713225"/>
            <a:ext cx="5582576" cy="4114800"/>
          </a:xfrm>
          <a:prstGeom prst="rect">
            <a:avLst/>
          </a:prstGeom>
          <a:noFill/>
          <a:ln>
            <a:noFill/>
          </a:ln>
        </p:spPr>
      </p:pic>
      <p:sp>
        <p:nvSpPr>
          <p:cNvPr id="297" name="Google Shape;297;p15"/>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5"/>
          <p:cNvSpPr/>
          <p:nvPr/>
        </p:nvSpPr>
        <p:spPr>
          <a:xfrm>
            <a:off x="5760720" y="713232"/>
            <a:ext cx="315468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5"/>
          <p:cNvSpPr/>
          <p:nvPr/>
        </p:nvSpPr>
        <p:spPr>
          <a:xfrm>
            <a:off x="5897880" y="868680"/>
            <a:ext cx="28346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1100"/>
              <a:buFont typeface="Calibri"/>
              <a:buNone/>
            </a:pPr>
            <a:r>
              <a:rPr b="1" i="0" lang="en-US" sz="1100" u="none" cap="none" strike="noStrike">
                <a:solidFill>
                  <a:srgbClr val="FF6B6B"/>
                </a:solidFill>
                <a:latin typeface="Calibri"/>
                <a:ea typeface="Calibri"/>
                <a:cs typeface="Calibri"/>
                <a:sym typeface="Calibri"/>
              </a:rPr>
              <a:t>Demographic Gap</a:t>
            </a:r>
            <a:endParaRPr b="0" i="0" sz="1100" u="none" cap="none" strike="noStrike">
              <a:solidFill>
                <a:schemeClr val="dk1"/>
              </a:solidFill>
              <a:latin typeface="Calibri"/>
              <a:ea typeface="Calibri"/>
              <a:cs typeface="Calibri"/>
              <a:sym typeface="Calibri"/>
            </a:endParaRPr>
          </a:p>
        </p:txBody>
      </p:sp>
      <p:sp>
        <p:nvSpPr>
          <p:cNvPr id="300" name="Google Shape;300;p15"/>
          <p:cNvSpPr/>
          <p:nvPr/>
        </p:nvSpPr>
        <p:spPr>
          <a:xfrm>
            <a:off x="5897880" y="1261872"/>
            <a:ext cx="2834640" cy="9144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Working-age adults &amp; families are well-represented.</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We are significantly underleveraged with:</a:t>
            </a:r>
            <a:endParaRPr b="0" i="0" sz="1150" u="none" cap="none" strike="noStrike">
              <a:solidFill>
                <a:schemeClr val="dk1"/>
              </a:solidFill>
              <a:latin typeface="Calibri"/>
              <a:ea typeface="Calibri"/>
              <a:cs typeface="Calibri"/>
              <a:sym typeface="Calibri"/>
            </a:endParaRPr>
          </a:p>
        </p:txBody>
      </p:sp>
      <p:sp>
        <p:nvSpPr>
          <p:cNvPr id="301" name="Google Shape;301;p15"/>
          <p:cNvSpPr/>
          <p:nvPr/>
        </p:nvSpPr>
        <p:spPr>
          <a:xfrm>
            <a:off x="5897880" y="2240280"/>
            <a:ext cx="54864" cy="4114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5"/>
          <p:cNvSpPr/>
          <p:nvPr/>
        </p:nvSpPr>
        <p:spPr>
          <a:xfrm>
            <a:off x="6035040" y="2267712"/>
            <a:ext cx="2743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Older retirees (60+)</a:t>
            </a:r>
            <a:endParaRPr b="0" i="0" sz="1200" u="none" cap="none" strike="noStrike">
              <a:solidFill>
                <a:schemeClr val="dk1"/>
              </a:solidFill>
              <a:latin typeface="Calibri"/>
              <a:ea typeface="Calibri"/>
              <a:cs typeface="Calibri"/>
              <a:sym typeface="Calibri"/>
            </a:endParaRPr>
          </a:p>
        </p:txBody>
      </p:sp>
      <p:sp>
        <p:nvSpPr>
          <p:cNvPr id="303" name="Google Shape;303;p15"/>
          <p:cNvSpPr/>
          <p:nvPr/>
        </p:nvSpPr>
        <p:spPr>
          <a:xfrm>
            <a:off x="5897880" y="2834640"/>
            <a:ext cx="54864" cy="41148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5"/>
          <p:cNvSpPr/>
          <p:nvPr/>
        </p:nvSpPr>
        <p:spPr>
          <a:xfrm>
            <a:off x="6035040" y="2862072"/>
            <a:ext cx="2743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Gen Z budget travelers (18–24)</a:t>
            </a:r>
            <a:endParaRPr b="0" i="0" sz="1200" u="none" cap="none" strike="noStrike">
              <a:solidFill>
                <a:schemeClr val="dk1"/>
              </a:solidFill>
              <a:latin typeface="Calibri"/>
              <a:ea typeface="Calibri"/>
              <a:cs typeface="Calibri"/>
              <a:sym typeface="Calibri"/>
            </a:endParaRPr>
          </a:p>
        </p:txBody>
      </p:sp>
      <p:sp>
        <p:nvSpPr>
          <p:cNvPr id="305" name="Google Shape;305;p15"/>
          <p:cNvSpPr/>
          <p:nvPr/>
        </p:nvSpPr>
        <p:spPr>
          <a:xfrm>
            <a:off x="5897880" y="3566160"/>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B8C6E0"/>
              </a:buClr>
              <a:buSzPts val="1050"/>
              <a:buFont typeface="Calibri"/>
              <a:buNone/>
            </a:pPr>
            <a:r>
              <a:rPr b="0" i="1" lang="en-US" sz="1050" u="none" cap="none" strike="noStrike">
                <a:solidFill>
                  <a:srgbClr val="B8C6E0"/>
                </a:solidFill>
                <a:latin typeface="Calibri"/>
                <a:ea typeface="Calibri"/>
                <a:cs typeface="Calibri"/>
                <a:sym typeface="Calibri"/>
              </a:rPr>
              <a:t>Product and marketing adaptation is required to capture these high-growth demographics before competitors do.</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310" name="Shape 310"/>
        <p:cNvGrpSpPr/>
        <p:nvPr/>
      </p:nvGrpSpPr>
      <p:grpSpPr>
        <a:xfrm>
          <a:off x="0" y="0"/>
          <a:ext cx="0" cy="0"/>
          <a:chOff x="0" y="0"/>
          <a:chExt cx="0" cy="0"/>
        </a:xfrm>
      </p:grpSpPr>
      <p:sp>
        <p:nvSpPr>
          <p:cNvPr id="311" name="Google Shape;311;p16"/>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6"/>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Gender-Based Regional Distribution of Users</a:t>
            </a:r>
            <a:endParaRPr b="0" i="0" sz="2200" u="none" cap="none" strike="noStrike">
              <a:solidFill>
                <a:schemeClr val="dk1"/>
              </a:solidFill>
              <a:latin typeface="Calibri"/>
              <a:ea typeface="Calibri"/>
              <a:cs typeface="Calibri"/>
              <a:sym typeface="Calibri"/>
            </a:endParaRPr>
          </a:p>
        </p:txBody>
      </p:sp>
      <p:pic>
        <p:nvPicPr>
          <p:cNvPr descr="preencoded.png" id="315" name="Google Shape;315;p16"/>
          <p:cNvPicPr preferRelativeResize="0"/>
          <p:nvPr/>
        </p:nvPicPr>
        <p:blipFill rotWithShape="1">
          <a:blip r:embed="rId3">
            <a:alphaModFix/>
          </a:blip>
          <a:srcRect b="0" l="0" r="0" t="0"/>
          <a:stretch/>
        </p:blipFill>
        <p:spPr>
          <a:xfrm>
            <a:off x="68425" y="713225"/>
            <a:ext cx="5617425" cy="4114799"/>
          </a:xfrm>
          <a:prstGeom prst="rect">
            <a:avLst/>
          </a:prstGeom>
          <a:noFill/>
          <a:ln>
            <a:noFill/>
          </a:ln>
        </p:spPr>
      </p:pic>
      <p:sp>
        <p:nvSpPr>
          <p:cNvPr id="316" name="Google Shape;316;p16"/>
          <p:cNvSpPr/>
          <p:nvPr/>
        </p:nvSpPr>
        <p:spPr>
          <a:xfrm>
            <a:off x="5760720" y="713232"/>
            <a:ext cx="315468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6"/>
          <p:cNvSpPr/>
          <p:nvPr/>
        </p:nvSpPr>
        <p:spPr>
          <a:xfrm>
            <a:off x="5760720" y="713232"/>
            <a:ext cx="315468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6"/>
          <p:cNvSpPr/>
          <p:nvPr/>
        </p:nvSpPr>
        <p:spPr>
          <a:xfrm>
            <a:off x="5852160" y="868680"/>
            <a:ext cx="292608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B6B"/>
              </a:buClr>
              <a:buSzPts val="3400"/>
              <a:buFont typeface="Calibri"/>
              <a:buNone/>
            </a:pPr>
            <a:r>
              <a:rPr b="1" i="0" lang="en-US" sz="3400" u="none" cap="none" strike="noStrike">
                <a:solidFill>
                  <a:srgbClr val="FF6B6B"/>
                </a:solidFill>
                <a:latin typeface="Calibri"/>
                <a:ea typeface="Calibri"/>
                <a:cs typeface="Calibri"/>
                <a:sym typeface="Calibri"/>
              </a:rPr>
              <a:t>85–90%</a:t>
            </a:r>
            <a:endParaRPr b="0" i="0" sz="3400" u="none" cap="none" strike="noStrike">
              <a:solidFill>
                <a:schemeClr val="dk1"/>
              </a:solidFill>
              <a:latin typeface="Calibri"/>
              <a:ea typeface="Calibri"/>
              <a:cs typeface="Calibri"/>
              <a:sym typeface="Calibri"/>
            </a:endParaRPr>
          </a:p>
        </p:txBody>
      </p:sp>
      <p:sp>
        <p:nvSpPr>
          <p:cNvPr id="319" name="Google Shape;319;p16"/>
          <p:cNvSpPr/>
          <p:nvPr/>
        </p:nvSpPr>
        <p:spPr>
          <a:xfrm>
            <a:off x="5852160" y="1417320"/>
            <a:ext cx="29260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of US users are female</a:t>
            </a:r>
            <a:endParaRPr b="0" i="0" sz="1100" u="none" cap="none" strike="noStrike">
              <a:solidFill>
                <a:schemeClr val="dk1"/>
              </a:solidFill>
              <a:latin typeface="Calibri"/>
              <a:ea typeface="Calibri"/>
              <a:cs typeface="Calibri"/>
              <a:sym typeface="Calibri"/>
            </a:endParaRPr>
          </a:p>
        </p:txBody>
      </p:sp>
      <p:sp>
        <p:nvSpPr>
          <p:cNvPr id="320" name="Google Shape;320;p16"/>
          <p:cNvSpPr/>
          <p:nvPr/>
        </p:nvSpPr>
        <p:spPr>
          <a:xfrm>
            <a:off x="6035040" y="1874520"/>
            <a:ext cx="2377440" cy="36576"/>
          </a:xfrm>
          <a:prstGeom prst="rect">
            <a:avLst/>
          </a:prstGeom>
          <a:solidFill>
            <a:srgbClr val="FF6B6B">
              <a:alpha val="60000"/>
            </a:srgbClr>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6"/>
          <p:cNvSpPr/>
          <p:nvPr/>
        </p:nvSpPr>
        <p:spPr>
          <a:xfrm>
            <a:off x="5897880" y="2011680"/>
            <a:ext cx="283464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USA is our primary market, where female users represent ~85–90% of the entire customer base. We are capturing almost no traction with male or alternative gender demographics.</a:t>
            </a:r>
            <a:endParaRPr b="0" i="0" sz="1150" u="none" cap="none" strike="noStrike">
              <a:solidFill>
                <a:schemeClr val="dk1"/>
              </a:solidFill>
              <a:latin typeface="Calibri"/>
              <a:ea typeface="Calibri"/>
              <a:cs typeface="Calibri"/>
              <a:sym typeface="Calibri"/>
            </a:endParaRPr>
          </a:p>
        </p:txBody>
      </p:sp>
      <p:sp>
        <p:nvSpPr>
          <p:cNvPr id="322" name="Google Shape;322;p16"/>
          <p:cNvSpPr/>
          <p:nvPr/>
        </p:nvSpPr>
        <p:spPr>
          <a:xfrm>
            <a:off x="5897880" y="3291840"/>
            <a:ext cx="2834640" cy="10058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0C9A7"/>
              </a:buClr>
              <a:buSzPts val="1100"/>
              <a:buFont typeface="Calibri"/>
              <a:buNone/>
            </a:pPr>
            <a:r>
              <a:rPr b="0" i="1" lang="en-US" sz="1100" u="none" cap="none" strike="noStrike">
                <a:solidFill>
                  <a:srgbClr val="00C9A7"/>
                </a:solidFill>
                <a:latin typeface="Calibri"/>
                <a:ea typeface="Calibri"/>
                <a:cs typeface="Calibri"/>
                <a:sym typeface="Calibri"/>
              </a:rPr>
              <a:t>Opportunity: Launch male-targeted campaigns around business travel, sports travel, and adventure tourism to diversify the user base.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327" name="Shape 327"/>
        <p:cNvGrpSpPr/>
        <p:nvPr/>
      </p:nvGrpSpPr>
      <p:grpSpPr>
        <a:xfrm>
          <a:off x="0" y="0"/>
          <a:ext cx="0" cy="0"/>
          <a:chOff x="0" y="0"/>
          <a:chExt cx="0" cy="0"/>
        </a:xfrm>
      </p:grpSpPr>
      <p:sp>
        <p:nvSpPr>
          <p:cNvPr id="328" name="Google Shape;328;p17"/>
          <p:cNvSpPr/>
          <p:nvPr/>
        </p:nvSpPr>
        <p:spPr>
          <a:xfrm>
            <a:off x="0" y="0"/>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7"/>
          <p:cNvSpPr/>
          <p:nvPr/>
        </p:nvSpPr>
        <p:spPr>
          <a:xfrm>
            <a:off x="0" y="5070348"/>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7"/>
          <p:cNvSpPr/>
          <p:nvPr/>
        </p:nvSpPr>
        <p:spPr>
          <a:xfrm>
            <a:off x="274320" y="457200"/>
            <a:ext cx="3657600" cy="3200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B6B"/>
              </a:buClr>
              <a:buSzPts val="16000"/>
              <a:buFont typeface="Calibri"/>
              <a:buNone/>
            </a:pPr>
            <a:r>
              <a:rPr b="1" i="0" lang="en-US" sz="16000" u="none" cap="none" strike="noStrike">
                <a:solidFill>
                  <a:srgbClr val="FF6B6B"/>
                </a:solidFill>
                <a:latin typeface="Calibri"/>
                <a:ea typeface="Calibri"/>
                <a:cs typeface="Calibri"/>
                <a:sym typeface="Calibri"/>
              </a:rPr>
              <a:t>03</a:t>
            </a:r>
            <a:endParaRPr b="0" i="0" sz="16000" u="none" cap="none" strike="noStrike">
              <a:solidFill>
                <a:schemeClr val="dk1"/>
              </a:solidFill>
              <a:latin typeface="Calibri"/>
              <a:ea typeface="Calibri"/>
              <a:cs typeface="Calibri"/>
              <a:sym typeface="Calibri"/>
            </a:endParaRPr>
          </a:p>
        </p:txBody>
      </p:sp>
      <p:sp>
        <p:nvSpPr>
          <p:cNvPr id="331" name="Google Shape;331;p17"/>
          <p:cNvSpPr/>
          <p:nvPr/>
        </p:nvSpPr>
        <p:spPr>
          <a:xfrm>
            <a:off x="411480" y="2194560"/>
            <a:ext cx="73152" cy="137160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7"/>
          <p:cNvSpPr/>
          <p:nvPr/>
        </p:nvSpPr>
        <p:spPr>
          <a:xfrm>
            <a:off x="3528535" y="1475030"/>
            <a:ext cx="7315200" cy="164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Customer</a:t>
            </a:r>
            <a:endParaRPr b="0" i="0" sz="4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Segmentation</a:t>
            </a:r>
            <a:endParaRPr b="0" i="0" sz="4000" u="none" cap="none" strike="noStrike">
              <a:solidFill>
                <a:schemeClr val="dk1"/>
              </a:solidFill>
              <a:latin typeface="Calibri"/>
              <a:ea typeface="Calibri"/>
              <a:cs typeface="Calibri"/>
              <a:sym typeface="Calibri"/>
            </a:endParaRPr>
          </a:p>
        </p:txBody>
      </p:sp>
      <p:sp>
        <p:nvSpPr>
          <p:cNvPr id="333" name="Google Shape;333;p17"/>
          <p:cNvSpPr/>
          <p:nvPr/>
        </p:nvSpPr>
        <p:spPr>
          <a:xfrm>
            <a:off x="594360" y="3703320"/>
            <a:ext cx="64008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Traditional RFM scoring approach — how Recency, Frequency, and Monetary scores were constructed and applied.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338" name="Shape 338"/>
        <p:cNvGrpSpPr/>
        <p:nvPr/>
      </p:nvGrpSpPr>
      <p:grpSpPr>
        <a:xfrm>
          <a:off x="0" y="0"/>
          <a:ext cx="0" cy="0"/>
          <a:chOff x="0" y="0"/>
          <a:chExt cx="0" cy="0"/>
        </a:xfrm>
      </p:grpSpPr>
      <p:sp>
        <p:nvSpPr>
          <p:cNvPr id="339" name="Google Shape;339;p18"/>
          <p:cNvSpPr/>
          <p:nvPr/>
        </p:nvSpPr>
        <p:spPr>
          <a:xfrm>
            <a:off x="0" y="0"/>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8"/>
          <p:cNvSpPr/>
          <p:nvPr/>
        </p:nvSpPr>
        <p:spPr>
          <a:xfrm>
            <a:off x="0" y="5070348"/>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8"/>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8"/>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Traditional RFM Approach &amp; Segmentation Rules</a:t>
            </a:r>
            <a:endParaRPr b="0" i="0" sz="2200" u="none" cap="none" strike="noStrike">
              <a:solidFill>
                <a:schemeClr val="dk1"/>
              </a:solidFill>
              <a:latin typeface="Calibri"/>
              <a:ea typeface="Calibri"/>
              <a:cs typeface="Calibri"/>
              <a:sym typeface="Calibri"/>
            </a:endParaRPr>
          </a:p>
        </p:txBody>
      </p:sp>
      <p:sp>
        <p:nvSpPr>
          <p:cNvPr id="343" name="Google Shape;343;p18"/>
          <p:cNvSpPr/>
          <p:nvPr/>
        </p:nvSpPr>
        <p:spPr>
          <a:xfrm>
            <a:off x="274320" y="713232"/>
            <a:ext cx="4114800" cy="128016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8"/>
          <p:cNvSpPr/>
          <p:nvPr/>
        </p:nvSpPr>
        <p:spPr>
          <a:xfrm>
            <a:off x="274320" y="713232"/>
            <a:ext cx="64008" cy="12801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8"/>
          <p:cNvSpPr/>
          <p:nvPr/>
        </p:nvSpPr>
        <p:spPr>
          <a:xfrm>
            <a:off x="411480" y="804672"/>
            <a:ext cx="548640" cy="54864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8"/>
          <p:cNvSpPr/>
          <p:nvPr/>
        </p:nvSpPr>
        <p:spPr>
          <a:xfrm>
            <a:off x="411480" y="80467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2000"/>
              <a:buFont typeface="Calibri"/>
              <a:buNone/>
            </a:pPr>
            <a:r>
              <a:rPr b="1" i="0" lang="en-US" sz="2000" u="none" cap="none" strike="noStrike">
                <a:solidFill>
                  <a:srgbClr val="0B1B3E"/>
                </a:solidFill>
                <a:latin typeface="Calibri"/>
                <a:ea typeface="Calibri"/>
                <a:cs typeface="Calibri"/>
                <a:sym typeface="Calibri"/>
              </a:rPr>
              <a:t>R</a:t>
            </a:r>
            <a:endParaRPr b="0" i="0" sz="2000" u="none" cap="none" strike="noStrike">
              <a:solidFill>
                <a:schemeClr val="dk1"/>
              </a:solidFill>
              <a:latin typeface="Calibri"/>
              <a:ea typeface="Calibri"/>
              <a:cs typeface="Calibri"/>
              <a:sym typeface="Calibri"/>
            </a:endParaRPr>
          </a:p>
        </p:txBody>
      </p:sp>
      <p:sp>
        <p:nvSpPr>
          <p:cNvPr id="347" name="Google Shape;347;p18"/>
          <p:cNvSpPr/>
          <p:nvPr/>
        </p:nvSpPr>
        <p:spPr>
          <a:xfrm>
            <a:off x="1051560" y="822960"/>
            <a:ext cx="3108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Recency</a:t>
            </a:r>
            <a:endParaRPr b="0" i="0" sz="1300" u="none" cap="none" strike="noStrike">
              <a:solidFill>
                <a:schemeClr val="dk1"/>
              </a:solidFill>
              <a:latin typeface="Calibri"/>
              <a:ea typeface="Calibri"/>
              <a:cs typeface="Calibri"/>
              <a:sym typeface="Calibri"/>
            </a:endParaRPr>
          </a:p>
        </p:txBody>
      </p:sp>
      <p:sp>
        <p:nvSpPr>
          <p:cNvPr id="348" name="Google Shape;348;p18"/>
          <p:cNvSpPr/>
          <p:nvPr/>
        </p:nvSpPr>
        <p:spPr>
          <a:xfrm>
            <a:off x="1051560" y="1152144"/>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Days since sign-up date</a:t>
            </a:r>
            <a:endParaRPr b="0" i="0" sz="1000" u="none" cap="none" strike="noStrike">
              <a:solidFill>
                <a:schemeClr val="dk1"/>
              </a:solidFill>
              <a:latin typeface="Calibri"/>
              <a:ea typeface="Calibri"/>
              <a:cs typeface="Calibri"/>
              <a:sym typeface="Calibri"/>
            </a:endParaRPr>
          </a:p>
        </p:txBody>
      </p:sp>
      <p:sp>
        <p:nvSpPr>
          <p:cNvPr id="349" name="Google Shape;349;p18"/>
          <p:cNvSpPr/>
          <p:nvPr/>
        </p:nvSpPr>
        <p:spPr>
          <a:xfrm>
            <a:off x="1051560" y="1426464"/>
            <a:ext cx="310896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950"/>
              <a:buFont typeface="Calibri"/>
              <a:buNone/>
            </a:pPr>
            <a:r>
              <a:rPr b="0" i="1" lang="en-US" sz="950" u="none" cap="none" strike="noStrike">
                <a:solidFill>
                  <a:srgbClr val="00C9A7"/>
                </a:solidFill>
                <a:latin typeface="Calibri"/>
                <a:ea typeface="Calibri"/>
                <a:cs typeface="Calibri"/>
                <a:sym typeface="Calibri"/>
              </a:rPr>
              <a:t>&lt; 90 days → New | 90–365 → Regular | 365+ → Loyal</a:t>
            </a:r>
            <a:endParaRPr b="0" i="0" sz="950" u="none" cap="none" strike="noStrike">
              <a:solidFill>
                <a:schemeClr val="dk1"/>
              </a:solidFill>
              <a:latin typeface="Calibri"/>
              <a:ea typeface="Calibri"/>
              <a:cs typeface="Calibri"/>
              <a:sym typeface="Calibri"/>
            </a:endParaRPr>
          </a:p>
        </p:txBody>
      </p:sp>
      <p:sp>
        <p:nvSpPr>
          <p:cNvPr id="350" name="Google Shape;350;p18"/>
          <p:cNvSpPr/>
          <p:nvPr/>
        </p:nvSpPr>
        <p:spPr>
          <a:xfrm>
            <a:off x="274320" y="2130552"/>
            <a:ext cx="4114800" cy="128016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8"/>
          <p:cNvSpPr/>
          <p:nvPr/>
        </p:nvSpPr>
        <p:spPr>
          <a:xfrm>
            <a:off x="274320" y="2130552"/>
            <a:ext cx="64008" cy="128016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8"/>
          <p:cNvSpPr/>
          <p:nvPr/>
        </p:nvSpPr>
        <p:spPr>
          <a:xfrm>
            <a:off x="411480" y="2221992"/>
            <a:ext cx="548640" cy="54864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8"/>
          <p:cNvSpPr/>
          <p:nvPr/>
        </p:nvSpPr>
        <p:spPr>
          <a:xfrm>
            <a:off x="411480" y="222199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2000"/>
              <a:buFont typeface="Calibri"/>
              <a:buNone/>
            </a:pPr>
            <a:r>
              <a:rPr b="1" i="0" lang="en-US" sz="2000" u="none" cap="none" strike="noStrike">
                <a:solidFill>
                  <a:srgbClr val="0B1B3E"/>
                </a:solidFill>
                <a:latin typeface="Calibri"/>
                <a:ea typeface="Calibri"/>
                <a:cs typeface="Calibri"/>
                <a:sym typeface="Calibri"/>
              </a:rPr>
              <a:t>F</a:t>
            </a:r>
            <a:endParaRPr b="0" i="0" sz="2000" u="none" cap="none" strike="noStrike">
              <a:solidFill>
                <a:schemeClr val="dk1"/>
              </a:solidFill>
              <a:latin typeface="Calibri"/>
              <a:ea typeface="Calibri"/>
              <a:cs typeface="Calibri"/>
              <a:sym typeface="Calibri"/>
            </a:endParaRPr>
          </a:p>
        </p:txBody>
      </p:sp>
      <p:sp>
        <p:nvSpPr>
          <p:cNvPr id="354" name="Google Shape;354;p18"/>
          <p:cNvSpPr/>
          <p:nvPr/>
        </p:nvSpPr>
        <p:spPr>
          <a:xfrm>
            <a:off x="1051560" y="2240280"/>
            <a:ext cx="3108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Frequency</a:t>
            </a:r>
            <a:endParaRPr b="0" i="0" sz="1300" u="none" cap="none" strike="noStrike">
              <a:solidFill>
                <a:schemeClr val="dk1"/>
              </a:solidFill>
              <a:latin typeface="Calibri"/>
              <a:ea typeface="Calibri"/>
              <a:cs typeface="Calibri"/>
              <a:sym typeface="Calibri"/>
            </a:endParaRPr>
          </a:p>
        </p:txBody>
      </p:sp>
      <p:sp>
        <p:nvSpPr>
          <p:cNvPr id="355" name="Google Shape;355;p18"/>
          <p:cNvSpPr/>
          <p:nvPr/>
        </p:nvSpPr>
        <p:spPr>
          <a:xfrm>
            <a:off x="1051560" y="2569464"/>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Total number of sessions created</a:t>
            </a:r>
            <a:endParaRPr b="0" i="0" sz="1000" u="none" cap="none" strike="noStrike">
              <a:solidFill>
                <a:schemeClr val="dk1"/>
              </a:solidFill>
              <a:latin typeface="Calibri"/>
              <a:ea typeface="Calibri"/>
              <a:cs typeface="Calibri"/>
              <a:sym typeface="Calibri"/>
            </a:endParaRPr>
          </a:p>
        </p:txBody>
      </p:sp>
      <p:sp>
        <p:nvSpPr>
          <p:cNvPr id="356" name="Google Shape;356;p18"/>
          <p:cNvSpPr/>
          <p:nvPr/>
        </p:nvSpPr>
        <p:spPr>
          <a:xfrm>
            <a:off x="1051560" y="2843784"/>
            <a:ext cx="310896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950"/>
              <a:buFont typeface="Calibri"/>
              <a:buNone/>
            </a:pPr>
            <a:r>
              <a:rPr b="0" i="1" lang="en-US" sz="950" u="none" cap="none" strike="noStrike">
                <a:solidFill>
                  <a:srgbClr val="FFD166"/>
                </a:solidFill>
                <a:latin typeface="Calibri"/>
                <a:ea typeface="Calibri"/>
                <a:cs typeface="Calibri"/>
                <a:sym typeface="Calibri"/>
              </a:rPr>
              <a:t>&lt; 5 sessions → Low | 5–20 → Medium | 20+ → High</a:t>
            </a:r>
            <a:endParaRPr b="0" i="0" sz="950" u="none" cap="none" strike="noStrike">
              <a:solidFill>
                <a:schemeClr val="dk1"/>
              </a:solidFill>
              <a:latin typeface="Calibri"/>
              <a:ea typeface="Calibri"/>
              <a:cs typeface="Calibri"/>
              <a:sym typeface="Calibri"/>
            </a:endParaRPr>
          </a:p>
        </p:txBody>
      </p:sp>
      <p:sp>
        <p:nvSpPr>
          <p:cNvPr id="357" name="Google Shape;357;p18"/>
          <p:cNvSpPr/>
          <p:nvPr/>
        </p:nvSpPr>
        <p:spPr>
          <a:xfrm>
            <a:off x="274320" y="3547872"/>
            <a:ext cx="4114800" cy="128016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8"/>
          <p:cNvSpPr/>
          <p:nvPr/>
        </p:nvSpPr>
        <p:spPr>
          <a:xfrm>
            <a:off x="274320" y="3547872"/>
            <a:ext cx="64008" cy="128016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8"/>
          <p:cNvSpPr/>
          <p:nvPr/>
        </p:nvSpPr>
        <p:spPr>
          <a:xfrm>
            <a:off x="411480" y="3639312"/>
            <a:ext cx="548640" cy="54864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8"/>
          <p:cNvSpPr/>
          <p:nvPr/>
        </p:nvSpPr>
        <p:spPr>
          <a:xfrm>
            <a:off x="411480" y="363931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2000"/>
              <a:buFont typeface="Calibri"/>
              <a:buNone/>
            </a:pPr>
            <a:r>
              <a:rPr b="1" i="0" lang="en-US" sz="2000" u="none" cap="none" strike="noStrike">
                <a:solidFill>
                  <a:srgbClr val="0B1B3E"/>
                </a:solidFill>
                <a:latin typeface="Calibri"/>
                <a:ea typeface="Calibri"/>
                <a:cs typeface="Calibri"/>
                <a:sym typeface="Calibri"/>
              </a:rPr>
              <a:t>M</a:t>
            </a:r>
            <a:endParaRPr b="0" i="0" sz="2000" u="none" cap="none" strike="noStrike">
              <a:solidFill>
                <a:schemeClr val="dk1"/>
              </a:solidFill>
              <a:latin typeface="Calibri"/>
              <a:ea typeface="Calibri"/>
              <a:cs typeface="Calibri"/>
              <a:sym typeface="Calibri"/>
            </a:endParaRPr>
          </a:p>
        </p:txBody>
      </p:sp>
      <p:sp>
        <p:nvSpPr>
          <p:cNvPr id="361" name="Google Shape;361;p18"/>
          <p:cNvSpPr/>
          <p:nvPr/>
        </p:nvSpPr>
        <p:spPr>
          <a:xfrm>
            <a:off x="1051560" y="3657600"/>
            <a:ext cx="3108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Monetary</a:t>
            </a:r>
            <a:endParaRPr b="0" i="0" sz="1300" u="none" cap="none" strike="noStrike">
              <a:solidFill>
                <a:schemeClr val="dk1"/>
              </a:solidFill>
              <a:latin typeface="Calibri"/>
              <a:ea typeface="Calibri"/>
              <a:cs typeface="Calibri"/>
              <a:sym typeface="Calibri"/>
            </a:endParaRPr>
          </a:p>
        </p:txBody>
      </p:sp>
      <p:sp>
        <p:nvSpPr>
          <p:cNvPr id="362" name="Google Shape;362;p18"/>
          <p:cNvSpPr/>
          <p:nvPr/>
        </p:nvSpPr>
        <p:spPr>
          <a:xfrm>
            <a:off x="1051560" y="3986784"/>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Avg flight fare + avg hotel spend</a:t>
            </a:r>
            <a:endParaRPr b="0" i="0" sz="1000" u="none" cap="none" strike="noStrike">
              <a:solidFill>
                <a:schemeClr val="dk1"/>
              </a:solidFill>
              <a:latin typeface="Calibri"/>
              <a:ea typeface="Calibri"/>
              <a:cs typeface="Calibri"/>
              <a:sym typeface="Calibri"/>
            </a:endParaRPr>
          </a:p>
        </p:txBody>
      </p:sp>
      <p:sp>
        <p:nvSpPr>
          <p:cNvPr id="363" name="Google Shape;363;p18"/>
          <p:cNvSpPr/>
          <p:nvPr/>
        </p:nvSpPr>
        <p:spPr>
          <a:xfrm>
            <a:off x="1051560" y="4261104"/>
            <a:ext cx="310896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950"/>
              <a:buFont typeface="Calibri"/>
              <a:buNone/>
            </a:pPr>
            <a:r>
              <a:rPr b="0" i="1" lang="en-US" sz="950" u="none" cap="none" strike="noStrike">
                <a:solidFill>
                  <a:srgbClr val="FF6B6B"/>
                </a:solidFill>
                <a:latin typeface="Calibri"/>
                <a:ea typeface="Calibri"/>
                <a:cs typeface="Calibri"/>
                <a:sym typeface="Calibri"/>
              </a:rPr>
              <a:t>&lt; $200 → Low | $200–800 → Medium | $800+ → High</a:t>
            </a:r>
            <a:endParaRPr b="0" i="0" sz="950" u="none" cap="none" strike="noStrike">
              <a:solidFill>
                <a:schemeClr val="dk1"/>
              </a:solidFill>
              <a:latin typeface="Calibri"/>
              <a:ea typeface="Calibri"/>
              <a:cs typeface="Calibri"/>
              <a:sym typeface="Calibri"/>
            </a:endParaRPr>
          </a:p>
        </p:txBody>
      </p:sp>
      <p:sp>
        <p:nvSpPr>
          <p:cNvPr id="364" name="Google Shape;364;p18"/>
          <p:cNvSpPr/>
          <p:nvPr/>
        </p:nvSpPr>
        <p:spPr>
          <a:xfrm>
            <a:off x="274320" y="4507992"/>
            <a:ext cx="4114800" cy="685800"/>
          </a:xfrm>
          <a:prstGeom prst="rect">
            <a:avLst/>
          </a:prstGeom>
          <a:solidFill>
            <a:srgbClr val="1E3D78"/>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8"/>
          <p:cNvSpPr/>
          <p:nvPr/>
        </p:nvSpPr>
        <p:spPr>
          <a:xfrm>
            <a:off x="457200" y="4544568"/>
            <a:ext cx="37490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RFM Score: </a:t>
            </a:r>
            <a:r>
              <a:rPr b="0" i="0" lang="en-US" sz="1000" u="none" cap="none" strike="noStrike">
                <a:solidFill>
                  <a:srgbClr val="B8C6E0"/>
                </a:solidFill>
                <a:latin typeface="Calibri"/>
                <a:ea typeface="Calibri"/>
                <a:cs typeface="Calibri"/>
                <a:sym typeface="Calibri"/>
              </a:rPr>
              <a:t>R + F + M scores summed → grouped into segments: </a:t>
            </a:r>
            <a:r>
              <a:rPr b="1" i="0" lang="en-US" sz="1000" u="none" cap="none" strike="noStrike">
                <a:solidFill>
                  <a:srgbClr val="00C9A7"/>
                </a:solidFill>
                <a:latin typeface="Calibri"/>
                <a:ea typeface="Calibri"/>
                <a:cs typeface="Calibri"/>
                <a:sym typeface="Calibri"/>
              </a:rPr>
              <a:t>New  |  Engaged  |  Frequent</a:t>
            </a:r>
            <a:r>
              <a:rPr b="0" i="0" lang="en-US" sz="1000" u="none" cap="none" strike="noStrike">
                <a:solidFill>
                  <a:srgbClr val="B8C6E0"/>
                </a:solidFill>
                <a:latin typeface="Calibri"/>
                <a:ea typeface="Calibri"/>
                <a:cs typeface="Calibri"/>
                <a:sym typeface="Calibri"/>
              </a:rPr>
              <a:t>  using hardcoded thresholds</a:t>
            </a:r>
            <a:endParaRPr b="0" i="0" sz="1000" u="none" cap="none" strike="noStrike">
              <a:solidFill>
                <a:schemeClr val="dk1"/>
              </a:solidFill>
              <a:latin typeface="Calibri"/>
              <a:ea typeface="Calibri"/>
              <a:cs typeface="Calibri"/>
              <a:sym typeface="Calibri"/>
            </a:endParaRPr>
          </a:p>
        </p:txBody>
      </p:sp>
      <p:sp>
        <p:nvSpPr>
          <p:cNvPr id="366" name="Google Shape;366;p18"/>
          <p:cNvSpPr/>
          <p:nvPr/>
        </p:nvSpPr>
        <p:spPr>
          <a:xfrm>
            <a:off x="4617720" y="713232"/>
            <a:ext cx="42519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User Segmentation Tree Map</a:t>
            </a:r>
            <a:endParaRPr b="0" i="0" sz="1300" u="none" cap="none" strike="noStrike">
              <a:solidFill>
                <a:schemeClr val="dk1"/>
              </a:solidFill>
              <a:latin typeface="Calibri"/>
              <a:ea typeface="Calibri"/>
              <a:cs typeface="Calibri"/>
              <a:sym typeface="Calibri"/>
            </a:endParaRPr>
          </a:p>
        </p:txBody>
      </p:sp>
      <p:pic>
        <p:nvPicPr>
          <p:cNvPr descr="preencoded.png" id="367" name="Google Shape;367;p18"/>
          <p:cNvPicPr preferRelativeResize="0"/>
          <p:nvPr/>
        </p:nvPicPr>
        <p:blipFill rotWithShape="1">
          <a:blip r:embed="rId3">
            <a:alphaModFix/>
          </a:blip>
          <a:srcRect b="0" l="0" r="0" t="0"/>
          <a:stretch/>
        </p:blipFill>
        <p:spPr>
          <a:xfrm>
            <a:off x="4487100" y="1079000"/>
            <a:ext cx="4599875" cy="3749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372" name="Shape 372"/>
        <p:cNvGrpSpPr/>
        <p:nvPr/>
      </p:nvGrpSpPr>
      <p:grpSpPr>
        <a:xfrm>
          <a:off x="0" y="0"/>
          <a:ext cx="0" cy="0"/>
          <a:chOff x="0" y="0"/>
          <a:chExt cx="0" cy="0"/>
        </a:xfrm>
      </p:grpSpPr>
      <p:sp>
        <p:nvSpPr>
          <p:cNvPr id="373" name="Google Shape;373;p19"/>
          <p:cNvSpPr/>
          <p:nvPr/>
        </p:nvSpPr>
        <p:spPr>
          <a:xfrm>
            <a:off x="0" y="0"/>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9"/>
          <p:cNvSpPr/>
          <p:nvPr/>
        </p:nvSpPr>
        <p:spPr>
          <a:xfrm>
            <a:off x="0" y="5070348"/>
            <a:ext cx="91440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9"/>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9"/>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Recommended Perks by Segment &amp; Rationale</a:t>
            </a:r>
            <a:endParaRPr b="0" i="0" sz="2200" u="none" cap="none" strike="noStrike">
              <a:solidFill>
                <a:schemeClr val="dk1"/>
              </a:solidFill>
              <a:latin typeface="Calibri"/>
              <a:ea typeface="Calibri"/>
              <a:cs typeface="Calibri"/>
              <a:sym typeface="Calibri"/>
            </a:endParaRPr>
          </a:p>
        </p:txBody>
      </p:sp>
      <p:pic>
        <p:nvPicPr>
          <p:cNvPr descr="preencoded.png" id="377" name="Google Shape;377;p19"/>
          <p:cNvPicPr preferRelativeResize="0"/>
          <p:nvPr/>
        </p:nvPicPr>
        <p:blipFill rotWithShape="1">
          <a:blip r:embed="rId3">
            <a:alphaModFix/>
          </a:blip>
          <a:srcRect b="0" l="0" r="0" t="0"/>
          <a:stretch/>
        </p:blipFill>
        <p:spPr>
          <a:xfrm>
            <a:off x="274320" y="713232"/>
            <a:ext cx="5029200" cy="4114800"/>
          </a:xfrm>
          <a:prstGeom prst="rect">
            <a:avLst/>
          </a:prstGeom>
          <a:noFill/>
          <a:ln>
            <a:noFill/>
          </a:ln>
        </p:spPr>
      </p:pic>
      <p:sp>
        <p:nvSpPr>
          <p:cNvPr id="378" name="Google Shape;378;p19"/>
          <p:cNvSpPr/>
          <p:nvPr/>
        </p:nvSpPr>
        <p:spPr>
          <a:xfrm>
            <a:off x="5532120" y="713232"/>
            <a:ext cx="3337560" cy="4114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9"/>
          <p:cNvSpPr/>
          <p:nvPr/>
        </p:nvSpPr>
        <p:spPr>
          <a:xfrm>
            <a:off x="5532120" y="713232"/>
            <a:ext cx="333756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9"/>
          <p:cNvSpPr/>
          <p:nvPr/>
        </p:nvSpPr>
        <p:spPr>
          <a:xfrm>
            <a:off x="5669280" y="886968"/>
            <a:ext cx="54864" cy="64008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9"/>
          <p:cNvSpPr/>
          <p:nvPr/>
        </p:nvSpPr>
        <p:spPr>
          <a:xfrm>
            <a:off x="5806440" y="868680"/>
            <a:ext cx="2834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New Users</a:t>
            </a:r>
            <a:endParaRPr b="0" i="0" sz="1100" u="none" cap="none" strike="noStrike">
              <a:solidFill>
                <a:schemeClr val="dk1"/>
              </a:solidFill>
              <a:latin typeface="Calibri"/>
              <a:ea typeface="Calibri"/>
              <a:cs typeface="Calibri"/>
              <a:sym typeface="Calibri"/>
            </a:endParaRPr>
          </a:p>
        </p:txBody>
      </p:sp>
      <p:sp>
        <p:nvSpPr>
          <p:cNvPr id="382" name="Google Shape;382;p19"/>
          <p:cNvSpPr/>
          <p:nvPr/>
        </p:nvSpPr>
        <p:spPr>
          <a:xfrm>
            <a:off x="5806440" y="1143000"/>
            <a:ext cx="2834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000"/>
              <a:buFont typeface="Calibri"/>
              <a:buNone/>
            </a:pPr>
            <a:r>
              <a:rPr b="0" i="1" lang="en-US" sz="1000" u="none" cap="none" strike="noStrike">
                <a:solidFill>
                  <a:srgbClr val="00C9A7"/>
                </a:solidFill>
                <a:latin typeface="Calibri"/>
                <a:ea typeface="Calibri"/>
                <a:cs typeface="Calibri"/>
                <a:sym typeface="Calibri"/>
              </a:rPr>
              <a:t>Onboarding discount (10% off first booking)</a:t>
            </a:r>
            <a:endParaRPr b="0" i="0" sz="1000" u="none" cap="none" strike="noStrike">
              <a:solidFill>
                <a:schemeClr val="dk1"/>
              </a:solidFill>
              <a:latin typeface="Calibri"/>
              <a:ea typeface="Calibri"/>
              <a:cs typeface="Calibri"/>
              <a:sym typeface="Calibri"/>
            </a:endParaRPr>
          </a:p>
        </p:txBody>
      </p:sp>
      <p:sp>
        <p:nvSpPr>
          <p:cNvPr id="383" name="Google Shape;383;p19"/>
          <p:cNvSpPr/>
          <p:nvPr/>
        </p:nvSpPr>
        <p:spPr>
          <a:xfrm>
            <a:off x="5806440" y="1399032"/>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50"/>
              <a:buFont typeface="Calibri"/>
              <a:buNone/>
            </a:pPr>
            <a:r>
              <a:rPr b="0" i="0" lang="en-US" sz="950" u="none" cap="none" strike="noStrike">
                <a:solidFill>
                  <a:srgbClr val="B8C6E0"/>
                </a:solidFill>
                <a:latin typeface="Calibri"/>
                <a:ea typeface="Calibri"/>
                <a:cs typeface="Calibri"/>
                <a:sym typeface="Calibri"/>
              </a:rPr>
              <a:t>Lower the first-booking barrier and accelerate time-to-conversion.</a:t>
            </a:r>
            <a:endParaRPr b="0" i="0" sz="950" u="none" cap="none" strike="noStrike">
              <a:solidFill>
                <a:schemeClr val="dk1"/>
              </a:solidFill>
              <a:latin typeface="Calibri"/>
              <a:ea typeface="Calibri"/>
              <a:cs typeface="Calibri"/>
              <a:sym typeface="Calibri"/>
            </a:endParaRPr>
          </a:p>
        </p:txBody>
      </p:sp>
      <p:sp>
        <p:nvSpPr>
          <p:cNvPr id="384" name="Google Shape;384;p19"/>
          <p:cNvSpPr/>
          <p:nvPr/>
        </p:nvSpPr>
        <p:spPr>
          <a:xfrm>
            <a:off x="5669280" y="1847088"/>
            <a:ext cx="54864" cy="64008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9"/>
          <p:cNvSpPr/>
          <p:nvPr/>
        </p:nvSpPr>
        <p:spPr>
          <a:xfrm>
            <a:off x="5806440" y="1828800"/>
            <a:ext cx="2834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Engaged Users</a:t>
            </a:r>
            <a:endParaRPr b="0" i="0" sz="1100" u="none" cap="none" strike="noStrike">
              <a:solidFill>
                <a:schemeClr val="dk1"/>
              </a:solidFill>
              <a:latin typeface="Calibri"/>
              <a:ea typeface="Calibri"/>
              <a:cs typeface="Calibri"/>
              <a:sym typeface="Calibri"/>
            </a:endParaRPr>
          </a:p>
        </p:txBody>
      </p:sp>
      <p:sp>
        <p:nvSpPr>
          <p:cNvPr id="386" name="Google Shape;386;p19"/>
          <p:cNvSpPr/>
          <p:nvPr/>
        </p:nvSpPr>
        <p:spPr>
          <a:xfrm>
            <a:off x="5806440" y="2103120"/>
            <a:ext cx="2834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1000"/>
              <a:buFont typeface="Calibri"/>
              <a:buNone/>
            </a:pPr>
            <a:r>
              <a:rPr b="0" i="1" lang="en-US" sz="1000" u="none" cap="none" strike="noStrike">
                <a:solidFill>
                  <a:srgbClr val="FFD166"/>
                </a:solidFill>
                <a:latin typeface="Calibri"/>
                <a:ea typeface="Calibri"/>
                <a:cs typeface="Calibri"/>
                <a:sym typeface="Calibri"/>
              </a:rPr>
              <a:t>Hotel upgrade vouchers</a:t>
            </a:r>
            <a:endParaRPr b="0" i="0" sz="1000" u="none" cap="none" strike="noStrike">
              <a:solidFill>
                <a:schemeClr val="dk1"/>
              </a:solidFill>
              <a:latin typeface="Calibri"/>
              <a:ea typeface="Calibri"/>
              <a:cs typeface="Calibri"/>
              <a:sym typeface="Calibri"/>
            </a:endParaRPr>
          </a:p>
        </p:txBody>
      </p:sp>
      <p:sp>
        <p:nvSpPr>
          <p:cNvPr id="387" name="Google Shape;387;p19"/>
          <p:cNvSpPr/>
          <p:nvPr/>
        </p:nvSpPr>
        <p:spPr>
          <a:xfrm>
            <a:off x="5806440" y="2359152"/>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50"/>
              <a:buFont typeface="Calibri"/>
              <a:buNone/>
            </a:pPr>
            <a:r>
              <a:rPr b="0" i="0" lang="en-US" sz="950" u="none" cap="none" strike="noStrike">
                <a:solidFill>
                  <a:srgbClr val="B8C6E0"/>
                </a:solidFill>
                <a:latin typeface="Calibri"/>
                <a:ea typeface="Calibri"/>
                <a:cs typeface="Calibri"/>
                <a:sym typeface="Calibri"/>
              </a:rPr>
              <a:t>Increase per-booking value and encourage flight+hotel bundling.</a:t>
            </a:r>
            <a:endParaRPr b="0" i="0" sz="950" u="none" cap="none" strike="noStrike">
              <a:solidFill>
                <a:schemeClr val="dk1"/>
              </a:solidFill>
              <a:latin typeface="Calibri"/>
              <a:ea typeface="Calibri"/>
              <a:cs typeface="Calibri"/>
              <a:sym typeface="Calibri"/>
            </a:endParaRPr>
          </a:p>
        </p:txBody>
      </p:sp>
      <p:sp>
        <p:nvSpPr>
          <p:cNvPr id="388" name="Google Shape;388;p19"/>
          <p:cNvSpPr/>
          <p:nvPr/>
        </p:nvSpPr>
        <p:spPr>
          <a:xfrm>
            <a:off x="5669280" y="2807208"/>
            <a:ext cx="54864"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9"/>
          <p:cNvSpPr/>
          <p:nvPr/>
        </p:nvSpPr>
        <p:spPr>
          <a:xfrm>
            <a:off x="5806440" y="2788920"/>
            <a:ext cx="2834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Frequent Users</a:t>
            </a:r>
            <a:endParaRPr b="0" i="0" sz="1100" u="none" cap="none" strike="noStrike">
              <a:solidFill>
                <a:schemeClr val="dk1"/>
              </a:solidFill>
              <a:latin typeface="Calibri"/>
              <a:ea typeface="Calibri"/>
              <a:cs typeface="Calibri"/>
              <a:sym typeface="Calibri"/>
            </a:endParaRPr>
          </a:p>
        </p:txBody>
      </p:sp>
      <p:sp>
        <p:nvSpPr>
          <p:cNvPr id="390" name="Google Shape;390;p19"/>
          <p:cNvSpPr/>
          <p:nvPr/>
        </p:nvSpPr>
        <p:spPr>
          <a:xfrm>
            <a:off x="5806440" y="3063240"/>
            <a:ext cx="2834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1000"/>
              <a:buFont typeface="Calibri"/>
              <a:buNone/>
            </a:pPr>
            <a:r>
              <a:rPr b="0" i="1" lang="en-US" sz="1000" u="none" cap="none" strike="noStrike">
                <a:solidFill>
                  <a:srgbClr val="FF6B6B"/>
                </a:solidFill>
                <a:latin typeface="Calibri"/>
                <a:ea typeface="Calibri"/>
                <a:cs typeface="Calibri"/>
                <a:sym typeface="Calibri"/>
              </a:rPr>
              <a:t>Priority boarding + early check-in</a:t>
            </a:r>
            <a:endParaRPr b="0" i="0" sz="1000" u="none" cap="none" strike="noStrike">
              <a:solidFill>
                <a:schemeClr val="dk1"/>
              </a:solidFill>
              <a:latin typeface="Calibri"/>
              <a:ea typeface="Calibri"/>
              <a:cs typeface="Calibri"/>
              <a:sym typeface="Calibri"/>
            </a:endParaRPr>
          </a:p>
        </p:txBody>
      </p:sp>
      <p:sp>
        <p:nvSpPr>
          <p:cNvPr id="391" name="Google Shape;391;p19"/>
          <p:cNvSpPr/>
          <p:nvPr/>
        </p:nvSpPr>
        <p:spPr>
          <a:xfrm>
            <a:off x="5806440" y="3319272"/>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50"/>
              <a:buFont typeface="Calibri"/>
              <a:buNone/>
            </a:pPr>
            <a:r>
              <a:rPr b="0" i="0" lang="en-US" sz="950" u="none" cap="none" strike="noStrike">
                <a:solidFill>
                  <a:srgbClr val="B8C6E0"/>
                </a:solidFill>
                <a:latin typeface="Calibri"/>
                <a:ea typeface="Calibri"/>
                <a:cs typeface="Calibri"/>
                <a:sym typeface="Calibri"/>
              </a:rPr>
              <a:t>Reward loyalty and reinforce platform stickiness for high-frequency bookers.</a:t>
            </a:r>
            <a:endParaRPr b="0" i="0" sz="950" u="none" cap="none" strike="noStrike">
              <a:solidFill>
                <a:schemeClr val="dk1"/>
              </a:solidFill>
              <a:latin typeface="Calibri"/>
              <a:ea typeface="Calibri"/>
              <a:cs typeface="Calibri"/>
              <a:sym typeface="Calibri"/>
            </a:endParaRPr>
          </a:p>
        </p:txBody>
      </p:sp>
      <p:sp>
        <p:nvSpPr>
          <p:cNvPr id="392" name="Google Shape;392;p19"/>
          <p:cNvSpPr/>
          <p:nvPr/>
        </p:nvSpPr>
        <p:spPr>
          <a:xfrm>
            <a:off x="5669280" y="3767328"/>
            <a:ext cx="54864" cy="640080"/>
          </a:xfrm>
          <a:prstGeom prst="rect">
            <a:avLst/>
          </a:prstGeom>
          <a:solidFill>
            <a:srgbClr val="B8C6E0"/>
          </a:solidFill>
          <a:ln cap="flat" cmpd="sng" w="12700">
            <a:solidFill>
              <a:srgbClr val="B8C6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9"/>
          <p:cNvSpPr/>
          <p:nvPr/>
        </p:nvSpPr>
        <p:spPr>
          <a:xfrm>
            <a:off x="5806440" y="3749040"/>
            <a:ext cx="2834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Other / At-Risk</a:t>
            </a:r>
            <a:endParaRPr b="0" i="0" sz="1100" u="none" cap="none" strike="noStrike">
              <a:solidFill>
                <a:schemeClr val="dk1"/>
              </a:solidFill>
              <a:latin typeface="Calibri"/>
              <a:ea typeface="Calibri"/>
              <a:cs typeface="Calibri"/>
              <a:sym typeface="Calibri"/>
            </a:endParaRPr>
          </a:p>
        </p:txBody>
      </p:sp>
      <p:sp>
        <p:nvSpPr>
          <p:cNvPr id="394" name="Google Shape;394;p19"/>
          <p:cNvSpPr/>
          <p:nvPr/>
        </p:nvSpPr>
        <p:spPr>
          <a:xfrm>
            <a:off x="5806440" y="4023360"/>
            <a:ext cx="2834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1000"/>
              <a:buFont typeface="Calibri"/>
              <a:buNone/>
            </a:pPr>
            <a:r>
              <a:rPr b="0" i="1" lang="en-US" sz="1000" u="none" cap="none" strike="noStrike">
                <a:solidFill>
                  <a:srgbClr val="B8C6E0"/>
                </a:solidFill>
                <a:latin typeface="Calibri"/>
                <a:ea typeface="Calibri"/>
                <a:cs typeface="Calibri"/>
                <a:sym typeface="Calibri"/>
              </a:rPr>
              <a:t>Cashback on next booking</a:t>
            </a:r>
            <a:endParaRPr b="0" i="0" sz="1000" u="none" cap="none" strike="noStrike">
              <a:solidFill>
                <a:schemeClr val="dk1"/>
              </a:solidFill>
              <a:latin typeface="Calibri"/>
              <a:ea typeface="Calibri"/>
              <a:cs typeface="Calibri"/>
              <a:sym typeface="Calibri"/>
            </a:endParaRPr>
          </a:p>
        </p:txBody>
      </p:sp>
      <p:sp>
        <p:nvSpPr>
          <p:cNvPr id="395" name="Google Shape;395;p19"/>
          <p:cNvSpPr/>
          <p:nvPr/>
        </p:nvSpPr>
        <p:spPr>
          <a:xfrm>
            <a:off x="5806440" y="4279392"/>
            <a:ext cx="2834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50"/>
              <a:buFont typeface="Calibri"/>
              <a:buNone/>
            </a:pPr>
            <a:r>
              <a:rPr b="0" i="0" lang="en-US" sz="950" u="none" cap="none" strike="noStrike">
                <a:solidFill>
                  <a:srgbClr val="B8C6E0"/>
                </a:solidFill>
                <a:latin typeface="Calibri"/>
                <a:ea typeface="Calibri"/>
                <a:cs typeface="Calibri"/>
                <a:sym typeface="Calibri"/>
              </a:rPr>
              <a:t>Re-activate dormant users with an immediate financial incentive.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400" name="Shape 400"/>
        <p:cNvGrpSpPr/>
        <p:nvPr/>
      </p:nvGrpSpPr>
      <p:grpSpPr>
        <a:xfrm>
          <a:off x="0" y="0"/>
          <a:ext cx="0" cy="0"/>
          <a:chOff x="0" y="0"/>
          <a:chExt cx="0" cy="0"/>
        </a:xfrm>
      </p:grpSpPr>
      <p:sp>
        <p:nvSpPr>
          <p:cNvPr id="401" name="Google Shape;401;p20"/>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0"/>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0"/>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0"/>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Data-Driven A/B Testing: Validating Perk Impact</a:t>
            </a:r>
            <a:endParaRPr b="0" i="0" sz="2200" u="none" cap="none" strike="noStrike">
              <a:solidFill>
                <a:schemeClr val="dk1"/>
              </a:solidFill>
              <a:latin typeface="Calibri"/>
              <a:ea typeface="Calibri"/>
              <a:cs typeface="Calibri"/>
              <a:sym typeface="Calibri"/>
            </a:endParaRPr>
          </a:p>
        </p:txBody>
      </p:sp>
      <p:pic>
        <p:nvPicPr>
          <p:cNvPr descr="preencoded.png" id="405" name="Google Shape;405;p20"/>
          <p:cNvPicPr preferRelativeResize="0"/>
          <p:nvPr/>
        </p:nvPicPr>
        <p:blipFill rotWithShape="1">
          <a:blip r:embed="rId3">
            <a:alphaModFix/>
          </a:blip>
          <a:srcRect b="0" l="0" r="0" t="0"/>
          <a:stretch/>
        </p:blipFill>
        <p:spPr>
          <a:xfrm>
            <a:off x="68425" y="713225"/>
            <a:ext cx="5617426" cy="4114800"/>
          </a:xfrm>
          <a:prstGeom prst="rect">
            <a:avLst/>
          </a:prstGeom>
          <a:noFill/>
          <a:ln>
            <a:noFill/>
          </a:ln>
        </p:spPr>
      </p:pic>
      <p:sp>
        <p:nvSpPr>
          <p:cNvPr id="406" name="Google Shape;406;p20"/>
          <p:cNvSpPr/>
          <p:nvPr/>
        </p:nvSpPr>
        <p:spPr>
          <a:xfrm>
            <a:off x="5760720" y="713232"/>
            <a:ext cx="3154680" cy="192024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0"/>
          <p:cNvSpPr/>
          <p:nvPr/>
        </p:nvSpPr>
        <p:spPr>
          <a:xfrm>
            <a:off x="5760720" y="713232"/>
            <a:ext cx="31546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0"/>
          <p:cNvSpPr/>
          <p:nvPr/>
        </p:nvSpPr>
        <p:spPr>
          <a:xfrm>
            <a:off x="5897880" y="850392"/>
            <a:ext cx="2834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100"/>
              <a:buFont typeface="Calibri"/>
              <a:buNone/>
            </a:pPr>
            <a:r>
              <a:rPr b="1" i="0" lang="en-US" sz="1100" u="none" cap="none" strike="noStrike">
                <a:solidFill>
                  <a:srgbClr val="00C9A7"/>
                </a:solidFill>
                <a:latin typeface="Calibri"/>
                <a:ea typeface="Calibri"/>
                <a:cs typeface="Calibri"/>
                <a:sym typeface="Calibri"/>
              </a:rPr>
              <a:t>Test Design</a:t>
            </a:r>
            <a:endParaRPr b="0" i="0" sz="1100" u="none" cap="none" strike="noStrike">
              <a:solidFill>
                <a:schemeClr val="dk1"/>
              </a:solidFill>
              <a:latin typeface="Calibri"/>
              <a:ea typeface="Calibri"/>
              <a:cs typeface="Calibri"/>
              <a:sym typeface="Calibri"/>
            </a:endParaRPr>
          </a:p>
        </p:txBody>
      </p:sp>
      <p:sp>
        <p:nvSpPr>
          <p:cNvPr id="409" name="Google Shape;409;p20"/>
          <p:cNvSpPr/>
          <p:nvPr/>
        </p:nvSpPr>
        <p:spPr>
          <a:xfrm>
            <a:off x="5897880" y="1170432"/>
            <a:ext cx="283464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Control: </a:t>
            </a:r>
            <a:r>
              <a:rPr b="0" i="0" lang="en-US" sz="1100" u="none" cap="none" strike="noStrike">
                <a:solidFill>
                  <a:srgbClr val="B8C6E0"/>
                </a:solidFill>
                <a:latin typeface="Calibri"/>
                <a:ea typeface="Calibri"/>
                <a:cs typeface="Calibri"/>
                <a:sym typeface="Calibri"/>
              </a:rPr>
              <a:t>No perk assigned</a:t>
            </a:r>
            <a:br>
              <a:rPr b="0" i="0" lang="en-US" sz="1100" u="none" cap="none" strike="noStrike">
                <a:solidFill>
                  <a:srgbClr val="B8C6E0"/>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Treatment: </a:t>
            </a:r>
            <a:r>
              <a:rPr b="0" i="0" lang="en-US" sz="1100" u="none" cap="none" strike="noStrike">
                <a:solidFill>
                  <a:srgbClr val="B8C6E0"/>
                </a:solidFill>
                <a:latin typeface="Calibri"/>
                <a:ea typeface="Calibri"/>
                <a:cs typeface="Calibri"/>
                <a:sym typeface="Calibri"/>
              </a:rPr>
              <a:t>Segment-matched perk assigned</a:t>
            </a:r>
            <a:br>
              <a:rPr b="0" i="0" lang="en-US" sz="1100" u="none" cap="none" strike="noStrike">
                <a:solidFill>
                  <a:srgbClr val="B8C6E0"/>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KPI: </a:t>
            </a:r>
            <a:r>
              <a:rPr b="0" i="0" lang="en-US" sz="1100" u="none" cap="none" strike="noStrike">
                <a:solidFill>
                  <a:srgbClr val="B8C6E0"/>
                </a:solidFill>
                <a:latin typeface="Calibri"/>
                <a:ea typeface="Calibri"/>
                <a:cs typeface="Calibri"/>
                <a:sym typeface="Calibri"/>
              </a:rPr>
              <a:t>90-day retention rate</a:t>
            </a:r>
            <a:endParaRPr b="0" i="0" sz="1100" u="none" cap="none" strike="noStrike">
              <a:solidFill>
                <a:schemeClr val="dk1"/>
              </a:solidFill>
              <a:latin typeface="Calibri"/>
              <a:ea typeface="Calibri"/>
              <a:cs typeface="Calibri"/>
              <a:sym typeface="Calibri"/>
            </a:endParaRPr>
          </a:p>
        </p:txBody>
      </p:sp>
      <p:sp>
        <p:nvSpPr>
          <p:cNvPr id="410" name="Google Shape;410;p20"/>
          <p:cNvSpPr/>
          <p:nvPr/>
        </p:nvSpPr>
        <p:spPr>
          <a:xfrm>
            <a:off x="5760720" y="2743200"/>
            <a:ext cx="3154680" cy="2084832"/>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0"/>
          <p:cNvSpPr/>
          <p:nvPr/>
        </p:nvSpPr>
        <p:spPr>
          <a:xfrm>
            <a:off x="5760720" y="2743200"/>
            <a:ext cx="315468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0"/>
          <p:cNvSpPr/>
          <p:nvPr/>
        </p:nvSpPr>
        <p:spPr>
          <a:xfrm>
            <a:off x="5897880" y="2880360"/>
            <a:ext cx="2834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1300"/>
              <a:buFont typeface="Calibri"/>
              <a:buNone/>
            </a:pPr>
            <a:r>
              <a:rPr b="1" i="0" lang="en-US" sz="1300" u="none" cap="none" strike="noStrike">
                <a:solidFill>
                  <a:srgbClr val="FFD166"/>
                </a:solidFill>
                <a:latin typeface="Calibri"/>
                <a:ea typeface="Calibri"/>
                <a:cs typeface="Calibri"/>
                <a:sym typeface="Calibri"/>
              </a:rPr>
              <a:t>Result: Neutral Signal</a:t>
            </a:r>
            <a:endParaRPr b="0" i="0" sz="1300" u="none" cap="none" strike="noStrike">
              <a:solidFill>
                <a:schemeClr val="dk1"/>
              </a:solidFill>
              <a:latin typeface="Calibri"/>
              <a:ea typeface="Calibri"/>
              <a:cs typeface="Calibri"/>
              <a:sym typeface="Calibri"/>
            </a:endParaRPr>
          </a:p>
        </p:txBody>
      </p:sp>
      <p:sp>
        <p:nvSpPr>
          <p:cNvPr id="413" name="Google Shape;413;p20"/>
          <p:cNvSpPr/>
          <p:nvPr/>
        </p:nvSpPr>
        <p:spPr>
          <a:xfrm>
            <a:off x="5897880" y="3291840"/>
            <a:ext cx="2834640" cy="14173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Control and treatment retention rates are closely matched across all four perk types — indicating the perk design, not the segmentation, is the variable to optimize next.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418" name="Shape 418"/>
        <p:cNvGrpSpPr/>
        <p:nvPr/>
      </p:nvGrpSpPr>
      <p:grpSpPr>
        <a:xfrm>
          <a:off x="0" y="0"/>
          <a:ext cx="0" cy="0"/>
          <a:chOff x="0" y="0"/>
          <a:chExt cx="0" cy="0"/>
        </a:xfrm>
      </p:grpSpPr>
      <p:sp>
        <p:nvSpPr>
          <p:cNvPr id="419" name="Google Shape;419;p21"/>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1"/>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1"/>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1"/>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Did the Perks Program Drive Retention?</a:t>
            </a:r>
            <a:endParaRPr b="0" i="0" sz="2200" u="none" cap="none" strike="noStrike">
              <a:solidFill>
                <a:schemeClr val="dk1"/>
              </a:solidFill>
              <a:latin typeface="Calibri"/>
              <a:ea typeface="Calibri"/>
              <a:cs typeface="Calibri"/>
              <a:sym typeface="Calibri"/>
            </a:endParaRPr>
          </a:p>
        </p:txBody>
      </p:sp>
      <p:sp>
        <p:nvSpPr>
          <p:cNvPr id="423" name="Google Shape;423;p21"/>
          <p:cNvSpPr/>
          <p:nvPr/>
        </p:nvSpPr>
        <p:spPr>
          <a:xfrm>
            <a:off x="274320" y="713232"/>
            <a:ext cx="2834640" cy="214884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4" name="Google Shape;424;p21"/>
          <p:cNvPicPr preferRelativeResize="0"/>
          <p:nvPr/>
        </p:nvPicPr>
        <p:blipFill rotWithShape="1">
          <a:blip r:embed="rId3">
            <a:alphaModFix/>
          </a:blip>
          <a:srcRect b="0" l="0" r="0" t="0"/>
          <a:stretch/>
        </p:blipFill>
        <p:spPr>
          <a:xfrm>
            <a:off x="320040" y="758952"/>
            <a:ext cx="2743200" cy="1737360"/>
          </a:xfrm>
          <a:prstGeom prst="rect">
            <a:avLst/>
          </a:prstGeom>
          <a:noFill/>
          <a:ln>
            <a:noFill/>
          </a:ln>
        </p:spPr>
      </p:pic>
      <p:sp>
        <p:nvSpPr>
          <p:cNvPr id="425" name="Google Shape;425;p21"/>
          <p:cNvSpPr/>
          <p:nvPr/>
        </p:nvSpPr>
        <p:spPr>
          <a:xfrm>
            <a:off x="347472" y="2496312"/>
            <a:ext cx="2697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00"/>
              <a:buFont typeface="Calibri"/>
              <a:buNone/>
            </a:pPr>
            <a:r>
              <a:rPr b="0" i="0" lang="en-US" sz="900" u="none" cap="none" strike="noStrike">
                <a:solidFill>
                  <a:srgbClr val="B8C6E0"/>
                </a:solidFill>
                <a:latin typeface="Calibri"/>
                <a:ea typeface="Calibri"/>
                <a:cs typeface="Calibri"/>
                <a:sym typeface="Calibri"/>
              </a:rPr>
              <a:t>Retention by Signup Cohort (All Perks)</a:t>
            </a:r>
            <a:endParaRPr b="0" i="0" sz="900" u="none" cap="none" strike="noStrike">
              <a:solidFill>
                <a:schemeClr val="dk1"/>
              </a:solidFill>
              <a:latin typeface="Calibri"/>
              <a:ea typeface="Calibri"/>
              <a:cs typeface="Calibri"/>
              <a:sym typeface="Calibri"/>
            </a:endParaRPr>
          </a:p>
        </p:txBody>
      </p:sp>
      <p:sp>
        <p:nvSpPr>
          <p:cNvPr id="426" name="Google Shape;426;p21"/>
          <p:cNvSpPr/>
          <p:nvPr/>
        </p:nvSpPr>
        <p:spPr>
          <a:xfrm>
            <a:off x="3246120" y="713232"/>
            <a:ext cx="2834640" cy="214884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7" name="Google Shape;427;p21"/>
          <p:cNvPicPr preferRelativeResize="0"/>
          <p:nvPr/>
        </p:nvPicPr>
        <p:blipFill rotWithShape="1">
          <a:blip r:embed="rId4">
            <a:alphaModFix/>
          </a:blip>
          <a:srcRect b="0" l="0" r="0" t="0"/>
          <a:stretch/>
        </p:blipFill>
        <p:spPr>
          <a:xfrm>
            <a:off x="3291840" y="758952"/>
            <a:ext cx="2743200" cy="1737360"/>
          </a:xfrm>
          <a:prstGeom prst="rect">
            <a:avLst/>
          </a:prstGeom>
          <a:noFill/>
          <a:ln>
            <a:noFill/>
          </a:ln>
        </p:spPr>
      </p:pic>
      <p:sp>
        <p:nvSpPr>
          <p:cNvPr id="428" name="Google Shape;428;p21"/>
          <p:cNvSpPr/>
          <p:nvPr/>
        </p:nvSpPr>
        <p:spPr>
          <a:xfrm>
            <a:off x="3319272" y="2496312"/>
            <a:ext cx="26974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00"/>
              <a:buFont typeface="Calibri"/>
              <a:buNone/>
            </a:pPr>
            <a:r>
              <a:rPr b="0" i="0" lang="en-US" sz="900" u="none" cap="none" strike="noStrike">
                <a:solidFill>
                  <a:srgbClr val="B8C6E0"/>
                </a:solidFill>
                <a:latin typeface="Calibri"/>
                <a:ea typeface="Calibri"/>
                <a:cs typeface="Calibri"/>
                <a:sym typeface="Calibri"/>
              </a:rPr>
              <a:t>Retention by Signup Cohort (Perk Types)</a:t>
            </a:r>
            <a:endParaRPr b="0" i="0" sz="900" u="none" cap="none" strike="noStrike">
              <a:solidFill>
                <a:schemeClr val="dk1"/>
              </a:solidFill>
              <a:latin typeface="Calibri"/>
              <a:ea typeface="Calibri"/>
              <a:cs typeface="Calibri"/>
              <a:sym typeface="Calibri"/>
            </a:endParaRPr>
          </a:p>
        </p:txBody>
      </p:sp>
      <p:sp>
        <p:nvSpPr>
          <p:cNvPr id="429" name="Google Shape;429;p21"/>
          <p:cNvSpPr/>
          <p:nvPr/>
        </p:nvSpPr>
        <p:spPr>
          <a:xfrm>
            <a:off x="6217920" y="713232"/>
            <a:ext cx="2697480" cy="214884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0" name="Google Shape;430;p21"/>
          <p:cNvPicPr preferRelativeResize="0"/>
          <p:nvPr/>
        </p:nvPicPr>
        <p:blipFill rotWithShape="1">
          <a:blip r:embed="rId5">
            <a:alphaModFix/>
          </a:blip>
          <a:srcRect b="0" l="0" r="0" t="0"/>
          <a:stretch/>
        </p:blipFill>
        <p:spPr>
          <a:xfrm>
            <a:off x="6263640" y="758952"/>
            <a:ext cx="2606040" cy="1737360"/>
          </a:xfrm>
          <a:prstGeom prst="rect">
            <a:avLst/>
          </a:prstGeom>
          <a:noFill/>
          <a:ln>
            <a:noFill/>
          </a:ln>
        </p:spPr>
      </p:pic>
      <p:sp>
        <p:nvSpPr>
          <p:cNvPr id="431" name="Google Shape;431;p21"/>
          <p:cNvSpPr/>
          <p:nvPr/>
        </p:nvSpPr>
        <p:spPr>
          <a:xfrm>
            <a:off x="6291072" y="2496312"/>
            <a:ext cx="2560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6E0"/>
              </a:buClr>
              <a:buSzPts val="900"/>
              <a:buFont typeface="Calibri"/>
              <a:buNone/>
            </a:pPr>
            <a:r>
              <a:rPr b="0" i="0" lang="en-US" sz="900" u="none" cap="none" strike="noStrike">
                <a:solidFill>
                  <a:srgbClr val="B8C6E0"/>
                </a:solidFill>
                <a:latin typeface="Calibri"/>
                <a:ea typeface="Calibri"/>
                <a:cs typeface="Calibri"/>
                <a:sym typeface="Calibri"/>
              </a:rPr>
              <a:t>Monthly Retention Trend</a:t>
            </a:r>
            <a:endParaRPr b="0" i="0" sz="900" u="none" cap="none" strike="noStrike">
              <a:solidFill>
                <a:schemeClr val="dk1"/>
              </a:solidFill>
              <a:latin typeface="Calibri"/>
              <a:ea typeface="Calibri"/>
              <a:cs typeface="Calibri"/>
              <a:sym typeface="Calibri"/>
            </a:endParaRPr>
          </a:p>
        </p:txBody>
      </p:sp>
      <p:sp>
        <p:nvSpPr>
          <p:cNvPr id="432" name="Google Shape;432;p21"/>
          <p:cNvSpPr/>
          <p:nvPr/>
        </p:nvSpPr>
        <p:spPr>
          <a:xfrm>
            <a:off x="274320" y="2999232"/>
            <a:ext cx="8641080" cy="1819656"/>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1"/>
          <p:cNvSpPr/>
          <p:nvPr/>
        </p:nvSpPr>
        <p:spPr>
          <a:xfrm>
            <a:off x="274320" y="2999232"/>
            <a:ext cx="864108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1"/>
          <p:cNvSpPr/>
          <p:nvPr/>
        </p:nvSpPr>
        <p:spPr>
          <a:xfrm>
            <a:off x="457200" y="3127248"/>
            <a:ext cx="80467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1200"/>
              <a:buFont typeface="Calibri"/>
              <a:buNone/>
            </a:pPr>
            <a:r>
              <a:rPr b="1" i="0" lang="en-US" sz="1200" u="none" cap="none" strike="noStrike">
                <a:solidFill>
                  <a:srgbClr val="00C9A7"/>
                </a:solidFill>
                <a:latin typeface="Calibri"/>
                <a:ea typeface="Calibri"/>
                <a:cs typeface="Calibri"/>
                <a:sym typeface="Calibri"/>
              </a:rPr>
              <a:t>Monitoring Interpretation</a:t>
            </a:r>
            <a:endParaRPr b="0" i="0" sz="1200" u="none" cap="none" strike="noStrike">
              <a:solidFill>
                <a:schemeClr val="dk1"/>
              </a:solidFill>
              <a:latin typeface="Calibri"/>
              <a:ea typeface="Calibri"/>
              <a:cs typeface="Calibri"/>
              <a:sym typeface="Calibri"/>
            </a:endParaRPr>
          </a:p>
        </p:txBody>
      </p:sp>
      <p:sp>
        <p:nvSpPr>
          <p:cNvPr id="435" name="Google Shape;435;p21"/>
          <p:cNvSpPr/>
          <p:nvPr/>
        </p:nvSpPr>
        <p:spPr>
          <a:xfrm>
            <a:off x="457200" y="3493008"/>
            <a:ext cx="8046720" cy="11887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B8C6E0"/>
              </a:buClr>
              <a:buSzPts val="1150"/>
              <a:buFont typeface="Calibri"/>
              <a:buNone/>
            </a:pPr>
            <a:r>
              <a:rPr b="0" i="0" lang="en-US" sz="1150" u="none" cap="none" strike="noStrike">
                <a:solidFill>
                  <a:srgbClr val="B8C6E0"/>
                </a:solidFill>
                <a:latin typeface="Calibri"/>
                <a:ea typeface="Calibri"/>
                <a:cs typeface="Calibri"/>
                <a:sym typeface="Calibri"/>
              </a:rPr>
              <a:t>If perks worked, we would expect the treatment cohort's retention line to sit consistently above the control line over 3–6 months. Current data shows the lines are closely intertwined — confirming the neutral A/B result. The segmentation framework is sound; the incentive design is the next lever to optimize.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440" name="Shape 440"/>
        <p:cNvGrpSpPr/>
        <p:nvPr/>
      </p:nvGrpSpPr>
      <p:grpSpPr>
        <a:xfrm>
          <a:off x="0" y="0"/>
          <a:ext cx="0" cy="0"/>
          <a:chOff x="0" y="0"/>
          <a:chExt cx="0" cy="0"/>
        </a:xfrm>
      </p:grpSpPr>
      <p:sp>
        <p:nvSpPr>
          <p:cNvPr id="441" name="Google Shape;441;p22"/>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2"/>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2"/>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2"/>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Key Takeaways</a:t>
            </a:r>
            <a:endParaRPr b="0" i="0" sz="2600" u="none" cap="none" strike="noStrike">
              <a:solidFill>
                <a:schemeClr val="dk1"/>
              </a:solidFill>
              <a:latin typeface="Calibri"/>
              <a:ea typeface="Calibri"/>
              <a:cs typeface="Calibri"/>
              <a:sym typeface="Calibri"/>
            </a:endParaRPr>
          </a:p>
        </p:txBody>
      </p:sp>
      <p:sp>
        <p:nvSpPr>
          <p:cNvPr id="445" name="Google Shape;445;p22"/>
          <p:cNvSpPr/>
          <p:nvPr/>
        </p:nvSpPr>
        <p:spPr>
          <a:xfrm>
            <a:off x="274320" y="804672"/>
            <a:ext cx="2743200" cy="1828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2"/>
          <p:cNvSpPr/>
          <p:nvPr/>
        </p:nvSpPr>
        <p:spPr>
          <a:xfrm>
            <a:off x="274320" y="804672"/>
            <a:ext cx="274320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2"/>
          <p:cNvSpPr/>
          <p:nvPr/>
        </p:nvSpPr>
        <p:spPr>
          <a:xfrm>
            <a:off x="384048" y="941832"/>
            <a:ext cx="2523744"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2600"/>
              <a:buFont typeface="Calibri"/>
              <a:buNone/>
            </a:pPr>
            <a:r>
              <a:rPr b="1" i="0" lang="en-US" sz="2600" u="none" cap="none" strike="noStrike">
                <a:solidFill>
                  <a:srgbClr val="00C9A7"/>
                </a:solidFill>
                <a:latin typeface="Calibri"/>
                <a:ea typeface="Calibri"/>
                <a:cs typeface="Calibri"/>
                <a:sym typeface="Calibri"/>
              </a:rPr>
              <a:t>65%+</a:t>
            </a:r>
            <a:endParaRPr b="0" i="0" sz="2600" u="none" cap="none" strike="noStrike">
              <a:solidFill>
                <a:schemeClr val="dk1"/>
              </a:solidFill>
              <a:latin typeface="Calibri"/>
              <a:ea typeface="Calibri"/>
              <a:cs typeface="Calibri"/>
              <a:sym typeface="Calibri"/>
            </a:endParaRPr>
          </a:p>
        </p:txBody>
      </p:sp>
      <p:sp>
        <p:nvSpPr>
          <p:cNvPr id="448" name="Google Shape;448;p22"/>
          <p:cNvSpPr/>
          <p:nvPr/>
        </p:nvSpPr>
        <p:spPr>
          <a:xfrm>
            <a:off x="384048" y="1463040"/>
            <a:ext cx="252374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High-engagement conversion</a:t>
            </a:r>
            <a:endParaRPr b="0" i="0" sz="1100" u="none" cap="none" strike="noStrike">
              <a:solidFill>
                <a:schemeClr val="dk1"/>
              </a:solidFill>
              <a:latin typeface="Calibri"/>
              <a:ea typeface="Calibri"/>
              <a:cs typeface="Calibri"/>
              <a:sym typeface="Calibri"/>
            </a:endParaRPr>
          </a:p>
        </p:txBody>
      </p:sp>
      <p:sp>
        <p:nvSpPr>
          <p:cNvPr id="449" name="Google Shape;449;p22"/>
          <p:cNvSpPr/>
          <p:nvPr/>
        </p:nvSpPr>
        <p:spPr>
          <a:xfrm>
            <a:off x="384048" y="1783080"/>
            <a:ext cx="2523744" cy="7498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Users with 25+ clicks per session convert at over 65%. Personalization must move users into this zone faster.</a:t>
            </a:r>
            <a:endParaRPr b="0" i="0" sz="1000" u="none" cap="none" strike="noStrike">
              <a:solidFill>
                <a:schemeClr val="dk1"/>
              </a:solidFill>
              <a:latin typeface="Calibri"/>
              <a:ea typeface="Calibri"/>
              <a:cs typeface="Calibri"/>
              <a:sym typeface="Calibri"/>
            </a:endParaRPr>
          </a:p>
        </p:txBody>
      </p:sp>
      <p:sp>
        <p:nvSpPr>
          <p:cNvPr id="450" name="Google Shape;450;p22"/>
          <p:cNvSpPr/>
          <p:nvPr/>
        </p:nvSpPr>
        <p:spPr>
          <a:xfrm>
            <a:off x="3246120" y="804672"/>
            <a:ext cx="2743200" cy="1828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2"/>
          <p:cNvSpPr/>
          <p:nvPr/>
        </p:nvSpPr>
        <p:spPr>
          <a:xfrm>
            <a:off x="3246120" y="804672"/>
            <a:ext cx="2743200" cy="640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2"/>
          <p:cNvSpPr/>
          <p:nvPr/>
        </p:nvSpPr>
        <p:spPr>
          <a:xfrm>
            <a:off x="3355848" y="941832"/>
            <a:ext cx="2523744"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6B6B"/>
              </a:buClr>
              <a:buSzPts val="2600"/>
              <a:buFont typeface="Calibri"/>
              <a:buNone/>
            </a:pPr>
            <a:r>
              <a:rPr b="1" i="0" lang="en-US" sz="2600" u="none" cap="none" strike="noStrike">
                <a:solidFill>
                  <a:srgbClr val="FF6B6B"/>
                </a:solidFill>
                <a:latin typeface="Calibri"/>
                <a:ea typeface="Calibri"/>
                <a:cs typeface="Calibri"/>
                <a:sym typeface="Calibri"/>
              </a:rPr>
              <a:t>75%</a:t>
            </a:r>
            <a:endParaRPr b="0" i="0" sz="2600" u="none" cap="none" strike="noStrike">
              <a:solidFill>
                <a:schemeClr val="dk1"/>
              </a:solidFill>
              <a:latin typeface="Calibri"/>
              <a:ea typeface="Calibri"/>
              <a:cs typeface="Calibri"/>
              <a:sym typeface="Calibri"/>
            </a:endParaRPr>
          </a:p>
        </p:txBody>
      </p:sp>
      <p:sp>
        <p:nvSpPr>
          <p:cNvPr id="453" name="Google Shape;453;p22"/>
          <p:cNvSpPr/>
          <p:nvPr/>
        </p:nvSpPr>
        <p:spPr>
          <a:xfrm>
            <a:off x="3355848" y="1463040"/>
            <a:ext cx="252374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Flight-only booking gap</a:t>
            </a:r>
            <a:endParaRPr b="0" i="0" sz="1100" u="none" cap="none" strike="noStrike">
              <a:solidFill>
                <a:schemeClr val="dk1"/>
              </a:solidFill>
              <a:latin typeface="Calibri"/>
              <a:ea typeface="Calibri"/>
              <a:cs typeface="Calibri"/>
              <a:sym typeface="Calibri"/>
            </a:endParaRPr>
          </a:p>
        </p:txBody>
      </p:sp>
      <p:sp>
        <p:nvSpPr>
          <p:cNvPr id="454" name="Google Shape;454;p22"/>
          <p:cNvSpPr/>
          <p:nvPr/>
        </p:nvSpPr>
        <p:spPr>
          <a:xfrm>
            <a:off x="3355848" y="1783080"/>
            <a:ext cx="2523744" cy="7498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75% of flight bookings have no hotel attached — our single largest revenue leakage and cross-sell opportunity.</a:t>
            </a:r>
            <a:endParaRPr b="0" i="0" sz="1000" u="none" cap="none" strike="noStrike">
              <a:solidFill>
                <a:schemeClr val="dk1"/>
              </a:solidFill>
              <a:latin typeface="Calibri"/>
              <a:ea typeface="Calibri"/>
              <a:cs typeface="Calibri"/>
              <a:sym typeface="Calibri"/>
            </a:endParaRPr>
          </a:p>
        </p:txBody>
      </p:sp>
      <p:sp>
        <p:nvSpPr>
          <p:cNvPr id="455" name="Google Shape;455;p22"/>
          <p:cNvSpPr/>
          <p:nvPr/>
        </p:nvSpPr>
        <p:spPr>
          <a:xfrm>
            <a:off x="6217920" y="804672"/>
            <a:ext cx="2743200" cy="1828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2"/>
          <p:cNvSpPr/>
          <p:nvPr/>
        </p:nvSpPr>
        <p:spPr>
          <a:xfrm>
            <a:off x="6217920" y="804672"/>
            <a:ext cx="274320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2"/>
          <p:cNvSpPr/>
          <p:nvPr/>
        </p:nvSpPr>
        <p:spPr>
          <a:xfrm>
            <a:off x="6327648" y="941832"/>
            <a:ext cx="2523744"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2600"/>
              <a:buFont typeface="Calibri"/>
              <a:buNone/>
            </a:pPr>
            <a:r>
              <a:rPr b="1" i="0" lang="en-US" sz="2600" u="none" cap="none" strike="noStrike">
                <a:solidFill>
                  <a:srgbClr val="FFD166"/>
                </a:solidFill>
                <a:latin typeface="Calibri"/>
                <a:ea typeface="Calibri"/>
                <a:cs typeface="Calibri"/>
                <a:sym typeface="Calibri"/>
              </a:rPr>
              <a:t>17–21h</a:t>
            </a:r>
            <a:endParaRPr b="0" i="0" sz="2600" u="none" cap="none" strike="noStrike">
              <a:solidFill>
                <a:schemeClr val="dk1"/>
              </a:solidFill>
              <a:latin typeface="Calibri"/>
              <a:ea typeface="Calibri"/>
              <a:cs typeface="Calibri"/>
              <a:sym typeface="Calibri"/>
            </a:endParaRPr>
          </a:p>
        </p:txBody>
      </p:sp>
      <p:sp>
        <p:nvSpPr>
          <p:cNvPr id="458" name="Google Shape;458;p22"/>
          <p:cNvSpPr/>
          <p:nvPr/>
        </p:nvSpPr>
        <p:spPr>
          <a:xfrm>
            <a:off x="6327648" y="1463040"/>
            <a:ext cx="252374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Peak engagement window</a:t>
            </a:r>
            <a:endParaRPr b="0" i="0" sz="1100" u="none" cap="none" strike="noStrike">
              <a:solidFill>
                <a:schemeClr val="dk1"/>
              </a:solidFill>
              <a:latin typeface="Calibri"/>
              <a:ea typeface="Calibri"/>
              <a:cs typeface="Calibri"/>
              <a:sym typeface="Calibri"/>
            </a:endParaRPr>
          </a:p>
        </p:txBody>
      </p:sp>
      <p:sp>
        <p:nvSpPr>
          <p:cNvPr id="459" name="Google Shape;459;p22"/>
          <p:cNvSpPr/>
          <p:nvPr/>
        </p:nvSpPr>
        <p:spPr>
          <a:xfrm>
            <a:off x="6327648" y="1783080"/>
            <a:ext cx="2523744" cy="7498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Sessions, bookings, and revenue all peak sharply in the evening. All campaigns should fire in this window.</a:t>
            </a:r>
            <a:endParaRPr b="0" i="0" sz="1000" u="none" cap="none" strike="noStrike">
              <a:solidFill>
                <a:schemeClr val="dk1"/>
              </a:solidFill>
              <a:latin typeface="Calibri"/>
              <a:ea typeface="Calibri"/>
              <a:cs typeface="Calibri"/>
              <a:sym typeface="Calibri"/>
            </a:endParaRPr>
          </a:p>
        </p:txBody>
      </p:sp>
      <p:sp>
        <p:nvSpPr>
          <p:cNvPr id="460" name="Google Shape;460;p22"/>
          <p:cNvSpPr/>
          <p:nvPr/>
        </p:nvSpPr>
        <p:spPr>
          <a:xfrm>
            <a:off x="274320" y="2926080"/>
            <a:ext cx="2743200" cy="1828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2"/>
          <p:cNvSpPr/>
          <p:nvPr/>
        </p:nvSpPr>
        <p:spPr>
          <a:xfrm>
            <a:off x="274320" y="2926080"/>
            <a:ext cx="2743200" cy="64008"/>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2"/>
          <p:cNvSpPr/>
          <p:nvPr/>
        </p:nvSpPr>
        <p:spPr>
          <a:xfrm>
            <a:off x="384048" y="3063240"/>
            <a:ext cx="2523744"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2600"/>
              <a:buFont typeface="Calibri"/>
              <a:buNone/>
            </a:pPr>
            <a:r>
              <a:rPr b="1" i="0" lang="en-US" sz="2600" u="none" cap="none" strike="noStrike">
                <a:solidFill>
                  <a:srgbClr val="00C9A7"/>
                </a:solidFill>
                <a:latin typeface="Calibri"/>
                <a:ea typeface="Calibri"/>
                <a:cs typeface="Calibri"/>
                <a:sym typeface="Calibri"/>
              </a:rPr>
              <a:t>RFM ✓</a:t>
            </a:r>
            <a:endParaRPr b="0" i="0" sz="2600" u="none" cap="none" strike="noStrike">
              <a:solidFill>
                <a:schemeClr val="dk1"/>
              </a:solidFill>
              <a:latin typeface="Calibri"/>
              <a:ea typeface="Calibri"/>
              <a:cs typeface="Calibri"/>
              <a:sym typeface="Calibri"/>
            </a:endParaRPr>
          </a:p>
        </p:txBody>
      </p:sp>
      <p:sp>
        <p:nvSpPr>
          <p:cNvPr id="463" name="Google Shape;463;p22"/>
          <p:cNvSpPr/>
          <p:nvPr/>
        </p:nvSpPr>
        <p:spPr>
          <a:xfrm>
            <a:off x="384048" y="3584448"/>
            <a:ext cx="252374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Segmentation validated</a:t>
            </a:r>
            <a:endParaRPr b="0" i="0" sz="1100" u="none" cap="none" strike="noStrike">
              <a:solidFill>
                <a:schemeClr val="dk1"/>
              </a:solidFill>
              <a:latin typeface="Calibri"/>
              <a:ea typeface="Calibri"/>
              <a:cs typeface="Calibri"/>
              <a:sym typeface="Calibri"/>
            </a:endParaRPr>
          </a:p>
        </p:txBody>
      </p:sp>
      <p:sp>
        <p:nvSpPr>
          <p:cNvPr id="464" name="Google Shape;464;p22"/>
          <p:cNvSpPr/>
          <p:nvPr/>
        </p:nvSpPr>
        <p:spPr>
          <a:xfrm>
            <a:off x="384048" y="3904488"/>
            <a:ext cx="2523744" cy="7498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Segments are correct. The neutral A/B result tells us incentive design — not segmentation — is the next lever.</a:t>
            </a:r>
            <a:endParaRPr b="0" i="0" sz="1000" u="none" cap="none" strike="noStrike">
              <a:solidFill>
                <a:schemeClr val="dk1"/>
              </a:solidFill>
              <a:latin typeface="Calibri"/>
              <a:ea typeface="Calibri"/>
              <a:cs typeface="Calibri"/>
              <a:sym typeface="Calibri"/>
            </a:endParaRPr>
          </a:p>
        </p:txBody>
      </p:sp>
      <p:sp>
        <p:nvSpPr>
          <p:cNvPr id="465" name="Google Shape;465;p22"/>
          <p:cNvSpPr/>
          <p:nvPr/>
        </p:nvSpPr>
        <p:spPr>
          <a:xfrm>
            <a:off x="3246120" y="2926080"/>
            <a:ext cx="2743200" cy="1828800"/>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2"/>
          <p:cNvSpPr/>
          <p:nvPr/>
        </p:nvSpPr>
        <p:spPr>
          <a:xfrm>
            <a:off x="3246120" y="2926080"/>
            <a:ext cx="2743200" cy="64008"/>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2"/>
          <p:cNvSpPr/>
          <p:nvPr/>
        </p:nvSpPr>
        <p:spPr>
          <a:xfrm>
            <a:off x="3355848" y="3063240"/>
            <a:ext cx="2523744"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166"/>
              </a:buClr>
              <a:buSzPts val="2600"/>
              <a:buFont typeface="Calibri"/>
              <a:buNone/>
            </a:pPr>
            <a:r>
              <a:rPr b="1" i="0" lang="en-US" sz="2600" u="none" cap="none" strike="noStrike">
                <a:solidFill>
                  <a:srgbClr val="FFD166"/>
                </a:solidFill>
                <a:latin typeface="Calibri"/>
                <a:ea typeface="Calibri"/>
                <a:cs typeface="Calibri"/>
                <a:sym typeface="Calibri"/>
              </a:rPr>
              <a:t>3,500</a:t>
            </a:r>
            <a:endParaRPr b="0" i="0" sz="2600" u="none" cap="none" strike="noStrike">
              <a:solidFill>
                <a:schemeClr val="dk1"/>
              </a:solidFill>
              <a:latin typeface="Calibri"/>
              <a:ea typeface="Calibri"/>
              <a:cs typeface="Calibri"/>
              <a:sym typeface="Calibri"/>
            </a:endParaRPr>
          </a:p>
        </p:txBody>
      </p:sp>
      <p:sp>
        <p:nvSpPr>
          <p:cNvPr id="468" name="Google Shape;468;p22"/>
          <p:cNvSpPr/>
          <p:nvPr/>
        </p:nvSpPr>
        <p:spPr>
          <a:xfrm>
            <a:off x="3355848" y="3584448"/>
            <a:ext cx="2523744"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Jan 2023 anchor cohort</a:t>
            </a:r>
            <a:endParaRPr b="0" i="0" sz="1100" u="none" cap="none" strike="noStrike">
              <a:solidFill>
                <a:schemeClr val="dk1"/>
              </a:solidFill>
              <a:latin typeface="Calibri"/>
              <a:ea typeface="Calibri"/>
              <a:cs typeface="Calibri"/>
              <a:sym typeface="Calibri"/>
            </a:endParaRPr>
          </a:p>
        </p:txBody>
      </p:sp>
      <p:sp>
        <p:nvSpPr>
          <p:cNvPr id="469" name="Google Shape;469;p22"/>
          <p:cNvSpPr/>
          <p:nvPr/>
        </p:nvSpPr>
        <p:spPr>
          <a:xfrm>
            <a:off x="3355848" y="3904488"/>
            <a:ext cx="2523744" cy="74980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000"/>
              <a:buFont typeface="Calibri"/>
              <a:buNone/>
            </a:pPr>
            <a:r>
              <a:rPr b="0" i="0" lang="en-US" sz="1000" u="none" cap="none" strike="noStrike">
                <a:solidFill>
                  <a:srgbClr val="B8C6E0"/>
                </a:solidFill>
                <a:latin typeface="Calibri"/>
                <a:ea typeface="Calibri"/>
                <a:cs typeface="Calibri"/>
                <a:sym typeface="Calibri"/>
              </a:rPr>
              <a:t>High-value users acquired in the Winter Sale campaign. Deploy re-engagement before churn accelerates.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474" name="Shape 474"/>
        <p:cNvGrpSpPr/>
        <p:nvPr/>
      </p:nvGrpSpPr>
      <p:grpSpPr>
        <a:xfrm>
          <a:off x="0" y="0"/>
          <a:ext cx="0" cy="0"/>
          <a:chOff x="0" y="0"/>
          <a:chExt cx="0" cy="0"/>
        </a:xfrm>
      </p:grpSpPr>
      <p:sp>
        <p:nvSpPr>
          <p:cNvPr id="475" name="Google Shape;475;p23"/>
          <p:cNvSpPr/>
          <p:nvPr/>
        </p:nvSpPr>
        <p:spPr>
          <a:xfrm>
            <a:off x="0" y="0"/>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3"/>
          <p:cNvSpPr/>
          <p:nvPr/>
        </p:nvSpPr>
        <p:spPr>
          <a:xfrm>
            <a:off x="0" y="5070348"/>
            <a:ext cx="9144000" cy="7315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3"/>
          <p:cNvSpPr/>
          <p:nvPr/>
        </p:nvSpPr>
        <p:spPr>
          <a:xfrm>
            <a:off x="411480" y="210312"/>
            <a:ext cx="54864" cy="3657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3"/>
          <p:cNvSpPr/>
          <p:nvPr/>
        </p:nvSpPr>
        <p:spPr>
          <a:xfrm>
            <a:off x="539496" y="164592"/>
            <a:ext cx="810158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Strategic Recommendations: Driving the Next Rollout</a:t>
            </a:r>
            <a:endParaRPr b="0" i="0" sz="2200" u="none" cap="none" strike="noStrike">
              <a:solidFill>
                <a:schemeClr val="dk1"/>
              </a:solidFill>
              <a:latin typeface="Calibri"/>
              <a:ea typeface="Calibri"/>
              <a:cs typeface="Calibri"/>
              <a:sym typeface="Calibri"/>
            </a:endParaRPr>
          </a:p>
        </p:txBody>
      </p:sp>
      <p:sp>
        <p:nvSpPr>
          <p:cNvPr id="479" name="Google Shape;479;p23"/>
          <p:cNvSpPr/>
          <p:nvPr/>
        </p:nvSpPr>
        <p:spPr>
          <a:xfrm>
            <a:off x="411480" y="804672"/>
            <a:ext cx="8412480" cy="1261872"/>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3"/>
          <p:cNvSpPr/>
          <p:nvPr/>
        </p:nvSpPr>
        <p:spPr>
          <a:xfrm>
            <a:off x="411480" y="804672"/>
            <a:ext cx="64008" cy="126187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3"/>
          <p:cNvSpPr/>
          <p:nvPr/>
        </p:nvSpPr>
        <p:spPr>
          <a:xfrm>
            <a:off x="566928" y="850392"/>
            <a:ext cx="594360" cy="594360"/>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3"/>
          <p:cNvSpPr/>
          <p:nvPr/>
        </p:nvSpPr>
        <p:spPr>
          <a:xfrm>
            <a:off x="566928" y="850392"/>
            <a:ext cx="5943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800"/>
              <a:buFont typeface="Calibri"/>
              <a:buNone/>
            </a:pPr>
            <a:r>
              <a:rPr b="1" i="0" lang="en-US" sz="1800" u="none" cap="none" strike="noStrike">
                <a:solidFill>
                  <a:srgbClr val="0B1B3E"/>
                </a:solidFill>
                <a:latin typeface="Calibri"/>
                <a:ea typeface="Calibri"/>
                <a:cs typeface="Calibri"/>
                <a:sym typeface="Calibri"/>
              </a:rPr>
              <a:t>01</a:t>
            </a:r>
            <a:endParaRPr b="0" i="0" sz="1800" u="none" cap="none" strike="noStrike">
              <a:solidFill>
                <a:schemeClr val="dk1"/>
              </a:solidFill>
              <a:latin typeface="Calibri"/>
              <a:ea typeface="Calibri"/>
              <a:cs typeface="Calibri"/>
              <a:sym typeface="Calibri"/>
            </a:endParaRPr>
          </a:p>
        </p:txBody>
      </p:sp>
      <p:sp>
        <p:nvSpPr>
          <p:cNvPr id="483" name="Google Shape;483;p23"/>
          <p:cNvSpPr/>
          <p:nvPr/>
        </p:nvSpPr>
        <p:spPr>
          <a:xfrm>
            <a:off x="1261872" y="914400"/>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Target Low-Ceiling Segments</a:t>
            </a:r>
            <a:endParaRPr b="0" i="0" sz="1400" u="none" cap="none" strike="noStrike">
              <a:solidFill>
                <a:schemeClr val="dk1"/>
              </a:solidFill>
              <a:latin typeface="Calibri"/>
              <a:ea typeface="Calibri"/>
              <a:cs typeface="Calibri"/>
              <a:sym typeface="Calibri"/>
            </a:endParaRPr>
          </a:p>
        </p:txBody>
      </p:sp>
      <p:sp>
        <p:nvSpPr>
          <p:cNvPr id="484" name="Google Shape;484;p23"/>
          <p:cNvSpPr/>
          <p:nvPr/>
        </p:nvSpPr>
        <p:spPr>
          <a:xfrm>
            <a:off x="1261872" y="1335024"/>
            <a:ext cx="713232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Prioritize the Family and budget-conscious traveler segments where baseline retention is lowest. These segments have the most headroom for uplift and will show the clearest signal in future perk tests.</a:t>
            </a:r>
            <a:endParaRPr b="0" i="0" sz="1100" u="none" cap="none" strike="noStrike">
              <a:solidFill>
                <a:schemeClr val="dk1"/>
              </a:solidFill>
              <a:latin typeface="Calibri"/>
              <a:ea typeface="Calibri"/>
              <a:cs typeface="Calibri"/>
              <a:sym typeface="Calibri"/>
            </a:endParaRPr>
          </a:p>
        </p:txBody>
      </p:sp>
      <p:sp>
        <p:nvSpPr>
          <p:cNvPr id="485" name="Google Shape;485;p23"/>
          <p:cNvSpPr/>
          <p:nvPr/>
        </p:nvSpPr>
        <p:spPr>
          <a:xfrm>
            <a:off x="411480" y="2221992"/>
            <a:ext cx="8412480" cy="1261872"/>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3"/>
          <p:cNvSpPr/>
          <p:nvPr/>
        </p:nvSpPr>
        <p:spPr>
          <a:xfrm>
            <a:off x="411480" y="2221992"/>
            <a:ext cx="64008" cy="1261872"/>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3"/>
          <p:cNvSpPr/>
          <p:nvPr/>
        </p:nvSpPr>
        <p:spPr>
          <a:xfrm>
            <a:off x="566928" y="2267712"/>
            <a:ext cx="594360" cy="594360"/>
          </a:xfrm>
          <a:prstGeom prst="rect">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3"/>
          <p:cNvSpPr/>
          <p:nvPr/>
        </p:nvSpPr>
        <p:spPr>
          <a:xfrm>
            <a:off x="566928" y="2267712"/>
            <a:ext cx="5943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800"/>
              <a:buFont typeface="Calibri"/>
              <a:buNone/>
            </a:pPr>
            <a:r>
              <a:rPr b="1" i="0" lang="en-US" sz="1800" u="none" cap="none" strike="noStrike">
                <a:solidFill>
                  <a:srgbClr val="0B1B3E"/>
                </a:solidFill>
                <a:latin typeface="Calibri"/>
                <a:ea typeface="Calibri"/>
                <a:cs typeface="Calibri"/>
                <a:sym typeface="Calibri"/>
              </a:rPr>
              <a:t>02</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1261872" y="2331720"/>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Redesign the Perk Value Proposition</a:t>
            </a:r>
            <a:endParaRPr b="0" i="0" sz="1400" u="none" cap="none" strike="noStrike">
              <a:solidFill>
                <a:schemeClr val="dk1"/>
              </a:solidFill>
              <a:latin typeface="Calibri"/>
              <a:ea typeface="Calibri"/>
              <a:cs typeface="Calibri"/>
              <a:sym typeface="Calibri"/>
            </a:endParaRPr>
          </a:p>
        </p:txBody>
      </p:sp>
      <p:sp>
        <p:nvSpPr>
          <p:cNvPr id="490" name="Google Shape;490;p23"/>
          <p:cNvSpPr/>
          <p:nvPr/>
        </p:nvSpPr>
        <p:spPr>
          <a:xfrm>
            <a:off x="1261872" y="2752344"/>
            <a:ext cx="713232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Current perks showed neutral retention effect — incentives didn't compel behavioral change. Test high-impact alternatives: instant cashback on next booking, free hotel upgrade vouchers, or priority boarding. Validate through user interviews first.</a:t>
            </a:r>
            <a:endParaRPr b="0" i="0" sz="1100" u="none" cap="none" strike="noStrike">
              <a:solidFill>
                <a:schemeClr val="dk1"/>
              </a:solidFill>
              <a:latin typeface="Calibri"/>
              <a:ea typeface="Calibri"/>
              <a:cs typeface="Calibri"/>
              <a:sym typeface="Calibri"/>
            </a:endParaRPr>
          </a:p>
        </p:txBody>
      </p:sp>
      <p:sp>
        <p:nvSpPr>
          <p:cNvPr id="491" name="Google Shape;491;p23"/>
          <p:cNvSpPr/>
          <p:nvPr/>
        </p:nvSpPr>
        <p:spPr>
          <a:xfrm>
            <a:off x="411480" y="3639312"/>
            <a:ext cx="8412480" cy="1261872"/>
          </a:xfrm>
          <a:prstGeom prst="rect">
            <a:avLst/>
          </a:prstGeom>
          <a:solidFill>
            <a:srgbClr val="132B5E"/>
          </a:solidFill>
          <a:ln cap="flat" cmpd="sng" w="12700">
            <a:solidFill>
              <a:srgbClr val="1E3D78"/>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3"/>
          <p:cNvSpPr/>
          <p:nvPr/>
        </p:nvSpPr>
        <p:spPr>
          <a:xfrm>
            <a:off x="411480" y="3639312"/>
            <a:ext cx="64008" cy="126187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3"/>
          <p:cNvSpPr/>
          <p:nvPr/>
        </p:nvSpPr>
        <p:spPr>
          <a:xfrm>
            <a:off x="566928" y="3685032"/>
            <a:ext cx="594360" cy="59436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3"/>
          <p:cNvSpPr/>
          <p:nvPr/>
        </p:nvSpPr>
        <p:spPr>
          <a:xfrm>
            <a:off x="566928" y="3685032"/>
            <a:ext cx="5943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B3E"/>
              </a:buClr>
              <a:buSzPts val="1800"/>
              <a:buFont typeface="Calibri"/>
              <a:buNone/>
            </a:pPr>
            <a:r>
              <a:rPr b="1" i="0" lang="en-US" sz="1800" u="none" cap="none" strike="noStrike">
                <a:solidFill>
                  <a:srgbClr val="0B1B3E"/>
                </a:solidFill>
                <a:latin typeface="Calibri"/>
                <a:ea typeface="Calibri"/>
                <a:cs typeface="Calibri"/>
                <a:sym typeface="Calibri"/>
              </a:rPr>
              <a:t>03</a:t>
            </a:r>
            <a:endParaRPr b="0" i="0" sz="1800" u="none" cap="none" strike="noStrike">
              <a:solidFill>
                <a:schemeClr val="dk1"/>
              </a:solidFill>
              <a:latin typeface="Calibri"/>
              <a:ea typeface="Calibri"/>
              <a:cs typeface="Calibri"/>
              <a:sym typeface="Calibri"/>
            </a:endParaRPr>
          </a:p>
        </p:txBody>
      </p:sp>
      <p:sp>
        <p:nvSpPr>
          <p:cNvPr id="495" name="Google Shape;495;p23"/>
          <p:cNvSpPr/>
          <p:nvPr/>
        </p:nvSpPr>
        <p:spPr>
          <a:xfrm>
            <a:off x="1261872" y="3749040"/>
            <a:ext cx="6400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Fix the Experimentation Window</a:t>
            </a:r>
            <a:endParaRPr b="0" i="0" sz="1400" u="none" cap="none" strike="noStrike">
              <a:solidFill>
                <a:schemeClr val="dk1"/>
              </a:solidFill>
              <a:latin typeface="Calibri"/>
              <a:ea typeface="Calibri"/>
              <a:cs typeface="Calibri"/>
              <a:sym typeface="Calibri"/>
            </a:endParaRPr>
          </a:p>
        </p:txBody>
      </p:sp>
      <p:sp>
        <p:nvSpPr>
          <p:cNvPr id="496" name="Google Shape;496;p23"/>
          <p:cNvSpPr/>
          <p:nvPr/>
        </p:nvSpPr>
        <p:spPr>
          <a:xfrm>
            <a:off x="1261872" y="4169664"/>
            <a:ext cx="713232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B8C6E0"/>
              </a:buClr>
              <a:buSzPts val="1100"/>
              <a:buFont typeface="Calibri"/>
              <a:buNone/>
            </a:pPr>
            <a:r>
              <a:rPr b="0" i="0" lang="en-US" sz="1100" u="none" cap="none" strike="noStrike">
                <a:solidFill>
                  <a:srgbClr val="B8C6E0"/>
                </a:solidFill>
                <a:latin typeface="Calibri"/>
                <a:ea typeface="Calibri"/>
                <a:cs typeface="Calibri"/>
                <a:sym typeface="Calibri"/>
              </a:rPr>
              <a:t>Current measurement uses historical signup dates (3–5 years back) as the baseline, which dilutes the perk signal. Restructure the next A/B test to measure from Day 0 of perk delivery for a clean, actionable signal.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B3E"/>
        </a:solidFill>
      </p:bgPr>
    </p:bg>
    <p:spTree>
      <p:nvGrpSpPr>
        <p:cNvPr id="501" name="Shape 501"/>
        <p:cNvGrpSpPr/>
        <p:nvPr/>
      </p:nvGrpSpPr>
      <p:grpSpPr>
        <a:xfrm>
          <a:off x="0" y="0"/>
          <a:ext cx="0" cy="0"/>
          <a:chOff x="0" y="0"/>
          <a:chExt cx="0" cy="0"/>
        </a:xfrm>
      </p:grpSpPr>
      <p:sp>
        <p:nvSpPr>
          <p:cNvPr id="502" name="Google Shape;502;p24"/>
          <p:cNvSpPr/>
          <p:nvPr/>
        </p:nvSpPr>
        <p:spPr>
          <a:xfrm>
            <a:off x="0" y="0"/>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4"/>
          <p:cNvSpPr/>
          <p:nvPr/>
        </p:nvSpPr>
        <p:spPr>
          <a:xfrm>
            <a:off x="0" y="5070348"/>
            <a:ext cx="9144000" cy="73152"/>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4"/>
          <p:cNvSpPr/>
          <p:nvPr/>
        </p:nvSpPr>
        <p:spPr>
          <a:xfrm>
            <a:off x="4940000" y="401450"/>
            <a:ext cx="4114800" cy="4114800"/>
          </a:xfrm>
          <a:prstGeom prst="ellipse">
            <a:avLst/>
          </a:prstGeom>
          <a:solidFill>
            <a:srgbClr val="00C9A7">
              <a:alpha val="7843"/>
            </a:srgbClr>
          </a:solidFill>
          <a:ln cap="flat" cmpd="sng" w="12700">
            <a:solidFill>
              <a:srgbClr val="00C9A7">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4"/>
          <p:cNvSpPr/>
          <p:nvPr/>
        </p:nvSpPr>
        <p:spPr>
          <a:xfrm>
            <a:off x="6370125" y="2207925"/>
            <a:ext cx="2743200" cy="2743200"/>
          </a:xfrm>
          <a:prstGeom prst="ellipse">
            <a:avLst/>
          </a:prstGeom>
          <a:solidFill>
            <a:srgbClr val="00C9A7">
              <a:alpha val="12156"/>
            </a:srgbClr>
          </a:solidFill>
          <a:ln cap="flat" cmpd="sng" w="12700">
            <a:solidFill>
              <a:srgbClr val="00C9A7">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4"/>
          <p:cNvSpPr/>
          <p:nvPr/>
        </p:nvSpPr>
        <p:spPr>
          <a:xfrm>
            <a:off x="457200" y="822960"/>
            <a:ext cx="548640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Thank You</a:t>
            </a:r>
            <a:endParaRPr b="0" i="0" sz="5200" u="none" cap="none" strike="noStrike">
              <a:solidFill>
                <a:schemeClr val="dk1"/>
              </a:solidFill>
              <a:latin typeface="Calibri"/>
              <a:ea typeface="Calibri"/>
              <a:cs typeface="Calibri"/>
              <a:sym typeface="Calibri"/>
            </a:endParaRPr>
          </a:p>
        </p:txBody>
      </p:sp>
      <p:sp>
        <p:nvSpPr>
          <p:cNvPr id="507" name="Google Shape;507;p24"/>
          <p:cNvSpPr/>
          <p:nvPr/>
        </p:nvSpPr>
        <p:spPr>
          <a:xfrm>
            <a:off x="457200" y="2011680"/>
            <a:ext cx="2286000" cy="54864"/>
          </a:xfrm>
          <a:prstGeom prst="rect">
            <a:avLst/>
          </a:prstGeom>
          <a:solidFill>
            <a:srgbClr val="00C9A7"/>
          </a:solidFill>
          <a:ln cap="flat" cmpd="sng" w="12700">
            <a:solidFill>
              <a:srgbClr val="00C9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4"/>
          <p:cNvSpPr/>
          <p:nvPr/>
        </p:nvSpPr>
        <p:spPr>
          <a:xfrm>
            <a:off x="457200" y="2148840"/>
            <a:ext cx="5486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C9A7"/>
              </a:buClr>
              <a:buSzPts val="1800"/>
              <a:buFont typeface="Calibri"/>
              <a:buNone/>
            </a:pPr>
            <a:r>
              <a:rPr b="0" i="0" lang="en-US" sz="1800" u="none" cap="none" strike="noStrike">
                <a:solidFill>
                  <a:srgbClr val="00C9A7"/>
                </a:solidFill>
                <a:latin typeface="Calibri"/>
                <a:ea typeface="Calibri"/>
                <a:cs typeface="Calibri"/>
                <a:sym typeface="Calibri"/>
              </a:rPr>
              <a:t>Questions &amp; Discussion</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457200" y="2834640"/>
            <a:ext cx="54864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TravelTide Analytics Project</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B8C6E0"/>
              </a:buClr>
              <a:buSzPts val="1300"/>
              <a:buFont typeface="Calibri"/>
              <a:buNone/>
            </a:pPr>
            <a:r>
              <a:rPr b="0" i="0" lang="en-US" sz="1300" u="none" cap="none" strike="noStrike">
                <a:solidFill>
                  <a:srgbClr val="B8C6E0"/>
                </a:solidFill>
                <a:latin typeface="Calibri"/>
                <a:ea typeface="Calibri"/>
                <a:cs typeface="Calibri"/>
                <a:sym typeface="Calibri"/>
              </a:rPr>
              <a:t>Customer Behavioral Segmentation &amp; Retention Strategy</a:t>
            </a:r>
            <a:endParaRPr b="0" i="0" sz="1300" u="none" cap="none" strike="noStrike">
              <a:solidFill>
                <a:schemeClr val="dk1"/>
              </a:solidFill>
              <a:latin typeface="Calibri"/>
              <a:ea typeface="Calibri"/>
              <a:cs typeface="Calibri"/>
              <a:sym typeface="Calibri"/>
            </a:endParaRPr>
          </a:p>
        </p:txBody>
      </p:sp>
      <p:sp>
        <p:nvSpPr>
          <p:cNvPr id="510" name="Google Shape;510;p24"/>
          <p:cNvSpPr/>
          <p:nvPr/>
        </p:nvSpPr>
        <p:spPr>
          <a:xfrm>
            <a:off x="457200" y="4114800"/>
            <a:ext cx="64008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899BB"/>
              </a:buClr>
              <a:buSzPts val="1100"/>
              <a:buFont typeface="Calibri"/>
              <a:buNone/>
            </a:pPr>
            <a:r>
              <a:rPr b="0" i="0" lang="en-US" sz="1100" u="none" cap="none" strike="noStrike">
                <a:solidFill>
                  <a:srgbClr val="8899BB"/>
                </a:solidFill>
                <a:latin typeface="Calibri"/>
                <a:ea typeface="Calibri"/>
                <a:cs typeface="Calibri"/>
                <a:sym typeface="Calibri"/>
              </a:rPr>
              <a:t>Sonali Biswas  |  Business Analyst  |  MSIT Program  |  June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2026-06-05T02:41:47Z</dcterms:created>
  <dc:creator>PptxGenJS</dc:creator>
</cp:coreProperties>
</file>